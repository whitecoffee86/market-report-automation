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3FE6A5C-59B2-4692-9664-566D95B7BE3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pos="7378" userDrawn="1">
          <p15:clr>
            <a:srgbClr val="A4A3A4"/>
          </p15:clr>
        </p15:guide>
        <p15:guide id="4" orient="horz" pos="4315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6" pos="7174" userDrawn="1">
          <p15:clr>
            <a:srgbClr val="A4A3A4"/>
          </p15:clr>
        </p15:guide>
        <p15:guide id="7" pos="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1"/>
    <a:srgbClr val="D9D9D9"/>
    <a:srgbClr val="7F7F7F"/>
    <a:srgbClr val="D8DFE7"/>
    <a:srgbClr val="E8A93B"/>
    <a:srgbClr val="0000DA"/>
    <a:srgbClr val="0000FF"/>
    <a:srgbClr val="0E3B68"/>
    <a:srgbClr val="2E9E4F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A0B7B-7532-452B-BDA1-E7D84C1B5AF4}" v="78" dt="2026-07-21T02:07:26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3906"/>
        <p:guide pos="302"/>
        <p:guide pos="7378"/>
        <p:guide orient="horz" pos="4315"/>
        <p:guide orient="horz" pos="4110"/>
        <p:guide pos="7174"/>
        <p:guide pos="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신암동</c:v>
                </c:pt>
                <c:pt idx="1">
                  <c:v>신천동</c:v>
                </c:pt>
                <c:pt idx="2">
                  <c:v>효목동</c:v>
                </c:pt>
                <c:pt idx="3">
                  <c:v>대현동</c:v>
                </c:pt>
              </c:strCache>
            </c:strRef>
          </c:cat>
          <c:val>
            <c:numRef>
              <c:f>Sheet1!$B$2:$B$5</c:f>
              <c:numCache>
                <c:formatCode>##.0"억"</c:formatCode>
                <c:ptCount val="4"/>
                <c:pt idx="0">
                  <c:v>8.1</c:v>
                </c:pt>
                <c:pt idx="1">
                  <c:v>8.2</c:v>
                </c:pt>
                <c:pt idx="2">
                  <c:v>6.2</c:v>
                </c:pt>
                <c:pt idx="3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5F-4867-A567-F7155FF26F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저가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신암동</c:v>
                </c:pt>
                <c:pt idx="1">
                  <c:v>신천동</c:v>
                </c:pt>
                <c:pt idx="2">
                  <c:v>효목동</c:v>
                </c:pt>
                <c:pt idx="3">
                  <c:v>대현동</c:v>
                </c:pt>
              </c:strCache>
            </c:strRef>
          </c:cat>
          <c:val>
            <c:numRef>
              <c:f>Sheet1!$C$2:$C$5</c:f>
              <c:numCache>
                <c:formatCode>##.0"억"</c:formatCode>
                <c:ptCount val="4"/>
                <c:pt idx="0">
                  <c:v>5.5</c:v>
                </c:pt>
                <c:pt idx="1">
                  <c:v>6.2</c:v>
                </c:pt>
                <c:pt idx="2">
                  <c:v>5.1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5F-4867-A567-F7155FF26F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rgbClr val="0070C0"/>
              </a:solidFill>
              <a:ln w="9525">
                <a:noFill/>
              </a:ln>
              <a:effectLst/>
            </c:spPr>
          </c:marker>
          <c:dLbls>
            <c:dLbl>
              <c:idx val="2"/>
              <c:layout>
                <c:manualLayout>
                  <c:x val="-5.2765899102875848E-3"/>
                  <c:y val="3.09142034516930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5F-4867-A567-F7155FF26F4C}"/>
                </c:ext>
              </c:extLst>
            </c:dLbl>
            <c:dLbl>
              <c:idx val="3"/>
              <c:layout>
                <c:manualLayout>
                  <c:x val="-5.2765073266635302E-3"/>
                  <c:y val="-8.62894501182798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5F-4867-A567-F7155FF26F4C}"/>
                </c:ext>
              </c:extLst>
            </c:dLbl>
            <c:dLbl>
              <c:idx val="4"/>
              <c:layout>
                <c:manualLayout>
                  <c:x val="-5.0699120945903644E-3"/>
                  <c:y val="-2.1913137702502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5F-4867-A567-F7155FF26F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신암동</c:v>
                </c:pt>
                <c:pt idx="1">
                  <c:v>신천동</c:v>
                </c:pt>
                <c:pt idx="2">
                  <c:v>효목동</c:v>
                </c:pt>
                <c:pt idx="3">
                  <c:v>대현동</c:v>
                </c:pt>
              </c:strCache>
            </c:strRef>
          </c:cat>
          <c:val>
            <c:numRef>
              <c:f>Sheet1!$D$2:$D$5</c:f>
              <c:numCache>
                <c:formatCode>##.0"억"</c:formatCode>
                <c:ptCount val="4"/>
                <c:pt idx="0">
                  <c:v>6.9</c:v>
                </c:pt>
                <c:pt idx="1">
                  <c:v>6.9</c:v>
                </c:pt>
                <c:pt idx="2">
                  <c:v>5.3</c:v>
                </c:pt>
                <c:pt idx="3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5F-4867-A567-F7155FF26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bg1">
                  <a:lumMod val="50000"/>
                </a:schemeClr>
              </a:solidFill>
              <a:round/>
            </a:ln>
            <a:effectLst/>
          </c:spPr>
        </c:hiLowLines>
        <c:axId val="56828320"/>
        <c:axId val="513862112"/>
      </c:stockChart>
      <c:catAx>
        <c:axId val="56828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13862112"/>
        <c:crosses val="autoZero"/>
        <c:auto val="1"/>
        <c:lblAlgn val="ctr"/>
        <c:lblOffset val="100"/>
        <c:noMultiLvlLbl val="0"/>
      </c:catAx>
      <c:valAx>
        <c:axId val="513862112"/>
        <c:scaling>
          <c:orientation val="minMax"/>
          <c:max val="10"/>
          <c:min val="1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##&quot;억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6828320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547687353034356E-2"/>
          <c:y val="0.18470524666218494"/>
          <c:w val="0.87623858064253579"/>
          <c:h val="0.588196558821032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가격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bg1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C346-489F-BBF0-DEA97FF02874}"/>
              </c:ext>
            </c:extLst>
          </c:dPt>
          <c:dPt>
            <c:idx val="1"/>
            <c:invertIfNegative val="1"/>
            <c:bubble3D val="0"/>
            <c:spPr>
              <a:solidFill>
                <a:srgbClr val="D9D9D9"/>
              </a:solidFill>
            </c:spPr>
            <c:extLst>
              <c:ext xmlns:c16="http://schemas.microsoft.com/office/drawing/2014/chart" uri="{C3380CC4-5D6E-409C-BE32-E72D297353CC}">
                <c16:uniqueId val="{00000003-C346-489F-BBF0-DEA97FF02874}"/>
              </c:ext>
            </c:extLst>
          </c:dPt>
          <c:dPt>
            <c:idx val="2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5-C346-489F-BBF0-DEA97FF0287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BFCC3C2-F852-4F5E-B7B6-56EFD6F2062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346-489F-BBF0-DEA97FF028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C34035B-61B1-43BB-A437-5300AADDE621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346-489F-BBF0-DEA97FF028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D700D4C-61BB-415B-B47A-C92737DABEC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346-489F-BBF0-DEA97FF02874}"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22222"/>
                    </a:solidFill>
                    <a:latin typeface="Noto Sans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해링턴플레이스동대구</c:v>
                </c:pt>
                <c:pt idx="1">
                  <c:v>동대구역화성파크드림</c:v>
                </c:pt>
                <c:pt idx="2">
                  <c:v>SITE 적정가
(신규)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7.8</c:v>
                </c:pt>
                <c:pt idx="2">
                  <c:v>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46-489F-BBF0-DEA97FF028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50000"/>
                  </a:schemeClr>
                </a:solidFill>
                <a:latin typeface="Noto Sans KR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.0_ 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591342031373475"/>
          <c:y val="0.12970539040880283"/>
          <c:w val="0.40151900454517431"/>
          <c:h val="0.67321087102578925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해링턴플레이스동대구</c:v>
                </c:pt>
              </c:strCache>
            </c:strRef>
          </c:tx>
          <c:spPr>
            <a:ln w="12700">
              <a:solidFill>
                <a:srgbClr val="7F7F7F"/>
              </a:solidFill>
            </a:ln>
          </c:spPr>
          <c:marker>
            <c:symbol val="circle"/>
            <c:size val="5"/>
            <c:spPr>
              <a:solidFill>
                <a:srgbClr val="7F7F7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2.85</c:v>
                </c:pt>
                <c:pt idx="1">
                  <c:v>4</c:v>
                </c:pt>
                <c:pt idx="2">
                  <c:v>2.12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F6-4B4E-B125-F20A7D46C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동대구역화성파크드림</c:v>
                </c:pt>
              </c:strCache>
            </c:strRef>
          </c:tx>
          <c:spPr>
            <a:ln w="12700">
              <a:solidFill>
                <a:srgbClr val="D9D9D9"/>
              </a:solidFill>
            </a:ln>
          </c:spPr>
          <c:marker>
            <c:symbol val="circle"/>
            <c:size val="5"/>
            <c:spPr>
              <a:solidFill>
                <a:srgbClr val="D9D9D9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3.57</c:v>
                </c:pt>
                <c:pt idx="1">
                  <c:v>4</c:v>
                </c:pt>
                <c:pt idx="2">
                  <c:v>2.12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F6-4B4E-B125-F20A7D46C7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SITE</c:v>
                </c:pt>
              </c:strCache>
            </c:strRef>
          </c:tx>
          <c:spPr>
            <a:ln w="28575">
              <a:solidFill>
                <a:srgbClr val="0070C0"/>
              </a:solidFill>
            </a:ln>
          </c:spPr>
          <c:marker>
            <c:symbol val="circle"/>
            <c:size val="8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2.57</c:v>
                </c:pt>
                <c:pt idx="1">
                  <c:v>5</c:v>
                </c:pt>
                <c:pt idx="2">
                  <c:v>2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F6-4B4E-B125-F20A7D46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chemeClr val="bg1">
                    <a:lumMod val="50000"/>
                  </a:schemeClr>
                </a:solidFill>
                <a:latin typeface="Malgun Gothic"/>
              </a:defRPr>
            </a:pPr>
            <a:endParaRPr lang="ko-KR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5"/>
          <c:min val="0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600">
                <a:solidFill>
                  <a:srgbClr val="666666"/>
                </a:solidFill>
              </a:defRPr>
            </a:pPr>
            <a:endParaRPr lang="ko-KR"/>
          </a:p>
        </c:txPr>
        <c:crossAx val="2073612648"/>
        <c:crosses val="autoZero"/>
        <c:crossBetween val="between"/>
        <c:majorUnit val="1"/>
      </c:valAx>
    </c:plotArea>
    <c:legend>
      <c:legendPos val="b"/>
      <c:layout>
        <c:manualLayout>
          <c:xMode val="edge"/>
          <c:yMode val="edge"/>
          <c:x val="3.0125440646524428E-2"/>
          <c:y val="0.84311821970391043"/>
          <c:w val="0.91867444558400746"/>
          <c:h val="0.11213006422634737"/>
        </c:manualLayout>
      </c:layout>
      <c:overlay val="0"/>
      <c:txPr>
        <a:bodyPr/>
        <a:lstStyle/>
        <a:p>
          <a:pPr>
            <a:defRPr sz="6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A6A05B4-7FC7-5875-EB92-D373A058F0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13332F-C9DC-5548-8A8A-FC477FCDD7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8AA42-F437-4551-9DC4-B6AE43CA235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F14A6E-DCDE-8EED-C0EF-1F8E229AF4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25B3A2-038E-9B5E-28B8-83D43AA55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FE87B-71E7-4D18-B35C-9F4C3A641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6099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730F-E94E-471A-B925-DECDBFD540D2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21E66-B9D7-49D6-A2A0-8638A5408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4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21E66-B9D7-49D6-A2A0-8638A54089B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074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1B13DCF-1F91-D69F-0EC5-9DA845187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92333" y="2550936"/>
            <a:ext cx="2193594" cy="24378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B14A1F-4C50-8E6E-629D-503FFE33D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80847" y="1714062"/>
            <a:ext cx="1438354" cy="134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7DF0C7-63D9-BED4-1FE5-76BC2DE594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33681" y="4032974"/>
            <a:ext cx="1583552" cy="19589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A7D271-151F-99AB-2EDE-74CB554BEAF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74975" y="3969908"/>
            <a:ext cx="1124051" cy="11898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42DA69-A2F6-AD06-C161-9A2B5273191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70716" y="3594352"/>
            <a:ext cx="988542" cy="11694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021FD8-A1EF-7EA1-9BBE-FC34313A89A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1746" y="5519024"/>
            <a:ext cx="895243" cy="21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2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5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60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신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BEA3C1E-0C16-123D-F13D-F8966A36B4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813777C0-E1FF-D439-0D92-249276000A1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A0E94B42-8DFB-0A44-78E0-16755FE8C066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64732FF-4780-BBA4-6B06-D1CF654E48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13253" y="5885960"/>
            <a:ext cx="794294" cy="841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F68797-ED3F-7B4F-10E3-9FC979645F1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B5F9E-5235-C7BC-BC9B-718CB57B3157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신뢰</a:t>
            </a:r>
          </a:p>
        </p:txBody>
      </p:sp>
    </p:spTree>
    <p:extLst>
      <p:ext uri="{BB962C8B-B14F-4D97-AF65-F5344CB8AC3E}">
        <p14:creationId xmlns:p14="http://schemas.microsoft.com/office/powerpoint/2010/main" val="141848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율과책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E1338C9-AE1A-F4FC-5B95-9F0073B6B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2782E0C-56A9-2FB5-8FD9-5A9D07188B65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863AF1B4-F5C9-1542-780F-9BC64F6A884F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66B0B73-BB6A-2ACC-B195-225D3C60A9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8167" y="5898952"/>
            <a:ext cx="808816" cy="882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E6ACFF-31C8-F55B-8CDB-78C03E4CFCB9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2709D-7089-5C15-D6BF-4406D55E8CE7}"/>
              </a:ext>
            </a:extLst>
          </p:cNvPr>
          <p:cNvSpPr txBox="1"/>
          <p:nvPr userDrawn="1"/>
        </p:nvSpPr>
        <p:spPr>
          <a:xfrm>
            <a:off x="10371910" y="6386125"/>
            <a:ext cx="1009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자율과 책임</a:t>
            </a:r>
          </a:p>
        </p:txBody>
      </p:sp>
    </p:spTree>
    <p:extLst>
      <p:ext uri="{BB962C8B-B14F-4D97-AF65-F5344CB8AC3E}">
        <p14:creationId xmlns:p14="http://schemas.microsoft.com/office/powerpoint/2010/main" val="16030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정도경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E7593D7-A93F-CCA3-8F87-9CD677B2F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11" name="직선 연결선[R] 8">
            <a:extLst>
              <a:ext uri="{FF2B5EF4-FFF2-40B4-BE49-F238E27FC236}">
                <a16:creationId xmlns:a16="http://schemas.microsoft.com/office/drawing/2014/main" id="{44ADA771-3828-1198-746D-B90174C22B69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8">
            <a:extLst>
              <a:ext uri="{FF2B5EF4-FFF2-40B4-BE49-F238E27FC236}">
                <a16:creationId xmlns:a16="http://schemas.microsoft.com/office/drawing/2014/main" id="{9BC779C7-761F-479B-03A4-457A33624C62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165E85A-A473-545A-9C1B-48AC4A1B4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0410" y="5995509"/>
            <a:ext cx="704330" cy="8545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F0002A-C98A-059F-0E05-5330EC68DB27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2969F-936A-E68C-245A-B7263F19789A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정도경영</a:t>
            </a:r>
          </a:p>
        </p:txBody>
      </p:sp>
    </p:spTree>
    <p:extLst>
      <p:ext uri="{BB962C8B-B14F-4D97-AF65-F5344CB8AC3E}">
        <p14:creationId xmlns:p14="http://schemas.microsoft.com/office/powerpoint/2010/main" val="307978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미래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F59AD38-621B-135A-5644-21BA00AC5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51D50356-D08F-47BA-441F-27DB59A41AD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D4BE9BFB-F571-7D31-742D-60FE8E6C3794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477C217-FC96-BC3B-16C6-292F1DB1C4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97131" y="5991215"/>
            <a:ext cx="856769" cy="802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7B9E00-D1A2-4636-186E-F4784B92C950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6B8D8-B0D1-8C62-DC8E-85FB3C3D610E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미래지향</a:t>
            </a:r>
          </a:p>
        </p:txBody>
      </p:sp>
    </p:spTree>
    <p:extLst>
      <p:ext uri="{BB962C8B-B14F-4D97-AF65-F5344CB8AC3E}">
        <p14:creationId xmlns:p14="http://schemas.microsoft.com/office/powerpoint/2010/main" val="115161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전문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338D86FF-37F7-7820-74CB-2581029CCAAA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63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전_핵심가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43D6AEE-C889-F155-8B64-6D1EABBA7C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FE54BE1-58A4-BFF3-426C-4DC556F7573D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DA705F86-AF79-68CC-293E-BD9EC157AAA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AAD157-1316-F34D-8237-0E85B0CD7E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625" y="6265096"/>
            <a:ext cx="439407" cy="519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D4B2963-28ED-DC5B-D3C9-63B5C33EA4D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78314" y="6244907"/>
            <a:ext cx="490001" cy="5190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AEED1D-2F39-90F2-A663-2147927E048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38118" y="6239719"/>
            <a:ext cx="498960" cy="544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3DAFDC-A984-D62E-E6A1-C87056347E0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02129" y="6280180"/>
            <a:ext cx="434503" cy="5271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71508F6-9661-4963-995E-6B3FB61EAE7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10373" y="6272363"/>
            <a:ext cx="528543" cy="4953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10B71E-C3C9-07C9-F6F5-041B9202162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13251" y="6265096"/>
            <a:ext cx="498960" cy="5274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DE84DA-3340-2D0C-A431-CC302694D03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897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55FBE67-4DFE-ABD8-5201-1C3CA1A121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4635" y="5340394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2CABAA45-2386-DCDE-DA6B-90B99CF6B328}"/>
              </a:ext>
            </a:extLst>
          </p:cNvPr>
          <p:cNvCxnSpPr>
            <a:cxnSpLocks/>
          </p:cNvCxnSpPr>
          <p:nvPr userDrawn="1"/>
        </p:nvCxnSpPr>
        <p:spPr>
          <a:xfrm>
            <a:off x="479685" y="5040881"/>
            <a:ext cx="11187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5A1E56C-E4F5-88D5-F9C9-DC75988A20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93118" y="5489983"/>
            <a:ext cx="592441" cy="6584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E79EAEA-C68F-EA19-1CB5-35B4CAADC9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9501" y="5471413"/>
            <a:ext cx="535848" cy="5020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0FA1FA-8436-04B0-39DA-5BE07E0287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4080" y="5102130"/>
            <a:ext cx="795557" cy="9841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E0C0EC-C0E2-EE33-D30A-48CA4E2F07A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626600" y="6091523"/>
            <a:ext cx="385945" cy="4085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A2975C-5BC1-8311-4391-EB05CAFB673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50315" y="6402153"/>
            <a:ext cx="706909" cy="3948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8AE3815-E32F-D211-0436-EEFD3735C4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15842" y="5340394"/>
            <a:ext cx="706909" cy="8362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9584F2-AE69-3E4F-FEDF-18E35BAAD665}"/>
              </a:ext>
            </a:extLst>
          </p:cNvPr>
          <p:cNvSpPr txBox="1"/>
          <p:nvPr userDrawn="1"/>
        </p:nvSpPr>
        <p:spPr>
          <a:xfrm>
            <a:off x="8185349" y="5916905"/>
            <a:ext cx="2220103" cy="757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더 안전하고 행복한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삶의 미래를 완성합니다</a:t>
            </a:r>
            <a:r>
              <a:rPr lang="en-US" altLang="ko-KR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554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1361C-916F-494B-9340-D474A64F2834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96765-16D4-4832-8CF0-49ED5658A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2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2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6D0C-714E-A95E-C682-033BD17B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7">
            <a:extLst>
              <a:ext uri="{FF2B5EF4-FFF2-40B4-BE49-F238E27FC236}">
                <a16:creationId xmlns:a16="http://schemas.microsoft.com/office/drawing/2014/main" id="{FD2BF451-D273-EADB-8CD4-2E77A9672723}"/>
              </a:ext>
            </a:extLst>
          </p:cNvPr>
          <p:cNvSpPr/>
          <p:nvPr/>
        </p:nvSpPr>
        <p:spPr>
          <a:xfrm>
            <a:off x="511209" y="4264623"/>
            <a:ext cx="5222773" cy="304225"/>
          </a:xfrm>
          <a:prstGeom prst="roundRect">
            <a:avLst>
              <a:gd name="adj" fmla="val 752"/>
            </a:avLst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60" name="차트 59">
            <a:extLst>
              <a:ext uri="{FF2B5EF4-FFF2-40B4-BE49-F238E27FC236}">
                <a16:creationId xmlns:a16="http://schemas.microsoft.com/office/drawing/2014/main" id="{C844CA87-2D4F-197A-13E4-3C024153E0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3662354"/>
              </p:ext>
            </p:extLst>
          </p:nvPr>
        </p:nvGraphicFramePr>
        <p:xfrm>
          <a:off x="475294" y="4836742"/>
          <a:ext cx="5222773" cy="1738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3" name="Rectangle 57">
            <a:extLst>
              <a:ext uri="{FF2B5EF4-FFF2-40B4-BE49-F238E27FC236}">
                <a16:creationId xmlns:a16="http://schemas.microsoft.com/office/drawing/2014/main" id="{B2616656-2AAB-CDC0-E93E-45FB802936E1}"/>
              </a:ext>
            </a:extLst>
          </p:cNvPr>
          <p:cNvSpPr/>
          <p:nvPr/>
        </p:nvSpPr>
        <p:spPr>
          <a:xfrm>
            <a:off x="6135567" y="5436432"/>
            <a:ext cx="5596982" cy="1094845"/>
          </a:xfrm>
          <a:prstGeom prst="roundRect">
            <a:avLst>
              <a:gd name="adj" fmla="val 752"/>
            </a:avLst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F1DD0-6AC6-4BA6-1E0A-7836CA5BE981}"/>
              </a:ext>
            </a:extLst>
          </p:cNvPr>
          <p:cNvSpPr/>
          <p:nvPr/>
        </p:nvSpPr>
        <p:spPr>
          <a:xfrm>
            <a:off x="497840" y="401497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80B39-CE07-AFCD-77F0-238020095264}"/>
              </a:ext>
            </a:extLst>
          </p:cNvPr>
          <p:cNvSpPr txBox="1"/>
          <p:nvPr/>
        </p:nvSpPr>
        <p:spPr>
          <a:xfrm>
            <a:off x="753872" y="329591"/>
            <a:ext cx="7772400" cy="3266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신암4구역 시장조사 보고서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1AE17-CB5D-7622-FE88-D0150B996055}"/>
              </a:ext>
            </a:extLst>
          </p:cNvPr>
          <p:cNvSpPr txBox="1"/>
          <p:nvPr/>
        </p:nvSpPr>
        <p:spPr>
          <a:xfrm>
            <a:off x="8349269" y="675441"/>
            <a:ext cx="3383280" cy="146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’26.08.09  ㅣ  건축·주택마케팅팀</a:t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DEF213-F8BA-1A66-350F-45247B9426C4}"/>
              </a:ext>
            </a:extLst>
          </p:cNvPr>
          <p:cNvSpPr/>
          <p:nvPr/>
        </p:nvSpPr>
        <p:spPr>
          <a:xfrm>
            <a:off x="511387" y="1876420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CE0F6-03CD-1A43-8F85-6DB6BF17A887}"/>
              </a:ext>
            </a:extLst>
          </p:cNvPr>
          <p:cNvSpPr txBox="1"/>
          <p:nvPr/>
        </p:nvSpPr>
        <p:spPr>
          <a:xfrm>
            <a:off x="618067" y="1857472"/>
            <a:ext cx="4419600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82D7C8-E9DA-596D-0F1D-13F9F8809EE9}"/>
              </a:ext>
            </a:extLst>
          </p:cNvPr>
          <p:cNvSpPr/>
          <p:nvPr/>
        </p:nvSpPr>
        <p:spPr>
          <a:xfrm>
            <a:off x="511387" y="4012441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E52E1-ECC2-433D-2356-FD974E3F98A2}"/>
              </a:ext>
            </a:extLst>
          </p:cNvPr>
          <p:cNvSpPr txBox="1"/>
          <p:nvPr/>
        </p:nvSpPr>
        <p:spPr>
          <a:xfrm>
            <a:off x="618067" y="3993493"/>
            <a:ext cx="2115824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위계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00CE9DC-14EB-BC07-8777-904BED94EB6B}"/>
              </a:ext>
            </a:extLst>
          </p:cNvPr>
          <p:cNvSpPr/>
          <p:nvPr/>
        </p:nvSpPr>
        <p:spPr>
          <a:xfrm>
            <a:off x="6141544" y="2177575"/>
            <a:ext cx="5591005" cy="2853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1" name="Chart 28">
            <a:extLst>
              <a:ext uri="{FF2B5EF4-FFF2-40B4-BE49-F238E27FC236}">
                <a16:creationId xmlns:a16="http://schemas.microsoft.com/office/drawing/2014/main" id="{15666FB7-CA58-C874-9068-7AC3C6157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816512"/>
              </p:ext>
            </p:extLst>
          </p:nvPr>
        </p:nvGraphicFramePr>
        <p:xfrm>
          <a:off x="6141544" y="2492918"/>
          <a:ext cx="3177233" cy="1743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14C59B02-BB9D-E310-80DB-1E27194C9D06}"/>
              </a:ext>
            </a:extLst>
          </p:cNvPr>
          <p:cNvSpPr txBox="1"/>
          <p:nvPr/>
        </p:nvSpPr>
        <p:spPr>
          <a:xfrm>
            <a:off x="6500215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@1622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451A634-963A-A3A8-4428-AE822D3B8D3C}"/>
              </a:ext>
            </a:extLst>
          </p:cNvPr>
          <p:cNvSpPr txBox="1"/>
          <p:nvPr/>
        </p:nvSpPr>
        <p:spPr>
          <a:xfrm>
            <a:off x="7432667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@2395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C7AC59-2288-B2A3-9AC2-C6A042CBA508}"/>
              </a:ext>
            </a:extLst>
          </p:cNvPr>
          <p:cNvSpPr txBox="1"/>
          <p:nvPr/>
        </p:nvSpPr>
        <p:spPr>
          <a:xfrm>
            <a:off x="8366370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@1890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5C5906-E3D1-4933-AFBF-0E290408B2FA}"/>
              </a:ext>
            </a:extLst>
          </p:cNvPr>
          <p:cNvSpPr txBox="1"/>
          <p:nvPr/>
        </p:nvSpPr>
        <p:spPr>
          <a:xfrm>
            <a:off x="6304436" y="2207136"/>
            <a:ext cx="1751986" cy="202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6.4억  (@1890만원)</a:t>
            </a:r>
            <a:r>
              <a:rPr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C18989C-390B-7F16-286A-DEC6297B3299}"/>
              </a:ext>
            </a:extLst>
          </p:cNvPr>
          <p:cNvSpPr txBox="1"/>
          <p:nvPr/>
        </p:nvSpPr>
        <p:spPr>
          <a:xfrm>
            <a:off x="9181591" y="2235702"/>
            <a:ext cx="2340688" cy="169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84㎡ (34평)기준 (확장포함 · 이자후불제)</a:t>
            </a:r>
            <a:r>
              <a:rPr 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D873F2-D868-9137-7712-3ADF5E600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86706"/>
              </p:ext>
            </p:extLst>
          </p:nvPr>
        </p:nvGraphicFramePr>
        <p:xfrm>
          <a:off x="1485029" y="2979272"/>
          <a:ext cx="4235625" cy="72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030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206312528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1914549856"/>
                    </a:ext>
                  </a:extLst>
                </a:gridCol>
              </a:tblGrid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구분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기축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요소</a:t>
                      </a:r>
                      <a:endParaRPr lang="en-US" altLang="ko-KR" sz="100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가격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거래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6361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endParaRPr lang="en-US" altLang="ko-KR" sz="100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BCBEE71E-162E-4FE6-1955-BAF8CD3FBC3B}"/>
              </a:ext>
            </a:extLst>
          </p:cNvPr>
          <p:cNvSpPr txBox="1"/>
          <p:nvPr/>
        </p:nvSpPr>
        <p:spPr>
          <a:xfrm>
            <a:off x="1485029" y="2204355"/>
            <a:ext cx="4212057" cy="694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교통	동대구역 인접 · 대구 4호선 개발등 철도인프라 有</a:t>
            </a:r>
            <a:r>
              <a:rPr lang="en-US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sz="1100" b="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생활	초등학교 및 대형 공원 인접하나, 지역 인프라 다소 미흡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294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	사업지 일대 정비사업 추진으로 향후 인프라 개선 기대감 高</a:t>
            </a:r>
            <a:r>
              <a:rPr lang="en-US" altLang="ko-KR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CEBC98C-2705-FFF3-3A7B-F23CAD46E013}"/>
              </a:ext>
            </a:extLst>
          </p:cNvPr>
          <p:cNvGrpSpPr/>
          <p:nvPr/>
        </p:nvGrpSpPr>
        <p:grpSpPr>
          <a:xfrm>
            <a:off x="511386" y="2150162"/>
            <a:ext cx="826301" cy="1555626"/>
            <a:chOff x="525084" y="1935076"/>
            <a:chExt cx="1005840" cy="1005840"/>
          </a:xfrm>
        </p:grpSpPr>
        <p:sp>
          <p:nvSpPr>
            <p:cNvPr id="69" name="Rounded Rectangle 22">
              <a:extLst>
                <a:ext uri="{FF2B5EF4-FFF2-40B4-BE49-F238E27FC236}">
                  <a16:creationId xmlns:a16="http://schemas.microsoft.com/office/drawing/2014/main" id="{DB273570-15D1-64EB-DEE0-718A920A09C2}"/>
                </a:ext>
              </a:extLst>
            </p:cNvPr>
            <p:cNvSpPr/>
            <p:nvPr/>
          </p:nvSpPr>
          <p:spPr>
            <a:xfrm>
              <a:off x="525084" y="1935076"/>
              <a:ext cx="1005840" cy="1005840"/>
            </a:xfrm>
            <a:prstGeom prst="roundRect">
              <a:avLst>
                <a:gd name="adj" fmla="val 10491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C00FFF9-80A1-C81D-380C-B90FAD27477A}"/>
                </a:ext>
              </a:extLst>
            </p:cNvPr>
            <p:cNvSpPr txBox="1"/>
            <p:nvPr/>
          </p:nvSpPr>
          <p:spPr>
            <a:xfrm>
              <a:off x="525084" y="2238282"/>
              <a:ext cx="1005840" cy="3994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3200" b="1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B</a:t>
              </a:r>
              <a:endParaRPr sz="3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aphicFrame>
        <p:nvGraphicFramePr>
          <p:cNvPr id="77" name="Chart 68">
            <a:extLst>
              <a:ext uri="{FF2B5EF4-FFF2-40B4-BE49-F238E27FC236}">
                <a16:creationId xmlns:a16="http://schemas.microsoft.com/office/drawing/2014/main" id="{9402492F-87AD-E3C6-20DA-CBA800E56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724798"/>
              </p:ext>
            </p:extLst>
          </p:nvPr>
        </p:nvGraphicFramePr>
        <p:xfrm>
          <a:off x="9399380" y="2630803"/>
          <a:ext cx="2263612" cy="1558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5278AB17-DC0B-193B-85B7-0C9A02818C71}"/>
              </a:ext>
            </a:extLst>
          </p:cNvPr>
          <p:cNvSpPr txBox="1"/>
          <p:nvPr/>
        </p:nvSpPr>
        <p:spPr>
          <a:xfrm>
            <a:off x="502920" y="877500"/>
            <a:ext cx="11183112" cy="532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당 사업지는 동구 지역 중 신암동에 위치하며 신천동과 더불어 선호 입지 지역임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altLang="ko-KR"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44588959-CDF4-AE04-E7DC-3233C6354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046802"/>
              </p:ext>
            </p:extLst>
          </p:nvPr>
        </p:nvGraphicFramePr>
        <p:xfrm>
          <a:off x="6135566" y="4790981"/>
          <a:ext cx="5596980" cy="541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245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</a:tblGrid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입지 및 시장환경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영향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분양등급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2E9E4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● 신중</a:t>
                      </a:r>
                      <a:endParaRPr lang="en-US" altLang="ko-KR" sz="1000" b="1" kern="1200" dirty="0">
                        <a:solidFill>
                          <a:srgbClr val="2E9E4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E8A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● 보통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E8A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● 보통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등급()</a:t>
                      </a:r>
                      <a:r>
                        <a:rPr lang="ko-KR" altLang="en-US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r>
                        <a:rPr lang="en-US" altLang="ko-KR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sz="1000" b="1" dirty="0">
                        <a:solidFill>
                          <a:srgbClr val="0070C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482A45-41AD-0E64-0D11-12320F3C199A}"/>
              </a:ext>
            </a:extLst>
          </p:cNvPr>
          <p:cNvGrpSpPr/>
          <p:nvPr/>
        </p:nvGrpSpPr>
        <p:grpSpPr>
          <a:xfrm>
            <a:off x="10444867" y="4611886"/>
            <a:ext cx="1287679" cy="146241"/>
            <a:chOff x="10199864" y="5361615"/>
            <a:chExt cx="1287679" cy="146241"/>
          </a:xfrm>
        </p:grpSpPr>
        <p:sp>
          <p:nvSpPr>
            <p:cNvPr id="52" name="Oval 60">
              <a:extLst>
                <a:ext uri="{FF2B5EF4-FFF2-40B4-BE49-F238E27FC236}">
                  <a16:creationId xmlns:a16="http://schemas.microsoft.com/office/drawing/2014/main" id="{07B53FFF-F5E8-0BCA-F433-1EA590C16577}"/>
                </a:ext>
              </a:extLst>
            </p:cNvPr>
            <p:cNvSpPr/>
            <p:nvPr/>
          </p:nvSpPr>
          <p:spPr>
            <a:xfrm>
              <a:off x="10199864" y="5386549"/>
              <a:ext cx="100584" cy="100584"/>
            </a:xfrm>
            <a:prstGeom prst="ellipse">
              <a:avLst/>
            </a:prstGeom>
            <a:solidFill>
              <a:srgbClr val="2E9E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A13C267-FF7D-7951-EC57-32EB496B79B4}"/>
                </a:ext>
              </a:extLst>
            </p:cNvPr>
            <p:cNvSpPr txBox="1"/>
            <p:nvPr/>
          </p:nvSpPr>
          <p:spPr>
            <a:xfrm>
              <a:off x="10310362" y="5361615"/>
              <a:ext cx="279213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 b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양호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Oval 62">
              <a:extLst>
                <a:ext uri="{FF2B5EF4-FFF2-40B4-BE49-F238E27FC236}">
                  <a16:creationId xmlns:a16="http://schemas.microsoft.com/office/drawing/2014/main" id="{88BC0F27-C0C6-6C77-C11D-9A860B25A895}"/>
                </a:ext>
              </a:extLst>
            </p:cNvPr>
            <p:cNvSpPr/>
            <p:nvPr/>
          </p:nvSpPr>
          <p:spPr>
            <a:xfrm>
              <a:off x="10650127" y="5389781"/>
              <a:ext cx="100584" cy="100584"/>
            </a:xfrm>
            <a:prstGeom prst="ellipse">
              <a:avLst/>
            </a:prstGeom>
            <a:solidFill>
              <a:srgbClr val="E8A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529C4B5-CB75-884D-7A3A-F0F00A370F06}"/>
                </a:ext>
              </a:extLst>
            </p:cNvPr>
            <p:cNvSpPr txBox="1"/>
            <p:nvPr/>
          </p:nvSpPr>
          <p:spPr>
            <a:xfrm>
              <a:off x="10722841" y="5364162"/>
              <a:ext cx="337847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보통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925977BB-B470-DAEE-C8DE-2652FF00DF23}"/>
                </a:ext>
              </a:extLst>
            </p:cNvPr>
            <p:cNvSpPr/>
            <p:nvPr/>
          </p:nvSpPr>
          <p:spPr>
            <a:xfrm>
              <a:off x="11079825" y="5382478"/>
              <a:ext cx="100584" cy="1005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A85053-3E0E-42F8-0CB9-ECC9454DB48C}"/>
                </a:ext>
              </a:extLst>
            </p:cNvPr>
            <p:cNvSpPr txBox="1"/>
            <p:nvPr/>
          </p:nvSpPr>
          <p:spPr>
            <a:xfrm>
              <a:off x="11180409" y="5363538"/>
              <a:ext cx="307134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 b="0" dirty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주의</a:t>
              </a:r>
              <a:endParaRPr sz="85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76" name="Connector 69">
            <a:extLst>
              <a:ext uri="{FF2B5EF4-FFF2-40B4-BE49-F238E27FC236}">
                <a16:creationId xmlns:a16="http://schemas.microsoft.com/office/drawing/2014/main" id="{66060700-8D0A-6728-A44C-3E76B5872531}"/>
              </a:ext>
            </a:extLst>
          </p:cNvPr>
          <p:cNvCxnSpPr>
            <a:cxnSpLocks/>
          </p:cNvCxnSpPr>
          <p:nvPr/>
        </p:nvCxnSpPr>
        <p:spPr>
          <a:xfrm>
            <a:off x="6105216" y="7084316"/>
            <a:ext cx="5341698" cy="0"/>
          </a:xfrm>
          <a:prstGeom prst="line">
            <a:avLst/>
          </a:prstGeom>
          <a:ln w="7620">
            <a:solidFill>
              <a:srgbClr val="D8D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E75EDB8-1C95-AB6C-E624-E37215AE070D}"/>
              </a:ext>
            </a:extLst>
          </p:cNvPr>
          <p:cNvSpPr txBox="1"/>
          <p:nvPr/>
        </p:nvSpPr>
        <p:spPr>
          <a:xfrm>
            <a:off x="6287658" y="5503921"/>
            <a:ext cx="5364096" cy="941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88900" indent="-88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KTX 인접 역세권 단지의 입지로 시장 선호도가 높을 것으로 판단되나, 대구시  미분양 시장환경 고려 시 보수적인 가격 책정 필요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8900" indent="-88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신암뉴타운 내 ‘동대구역 하늘채’ 분양 성과여부에 따라 가격 재검토 가능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주력평형 84㎡ 제외 적정 분양가 보수적 책정(소형 · 대형)으로 외형가 심리선 확보</a:t>
            </a:r>
            <a:r>
              <a:rPr lang="ko-KR" altLang="en-US" sz="1050" b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4D0922-4F4B-5DDF-DECC-99449FC5B2B4}"/>
              </a:ext>
            </a:extLst>
          </p:cNvPr>
          <p:cNvSpPr txBox="1"/>
          <p:nvPr/>
        </p:nvSpPr>
        <p:spPr>
          <a:xfrm>
            <a:off x="591396" y="4312466"/>
            <a:ext cx="4680469" cy="1806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100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DA7BEF-30D7-53AE-5176-39FFE1A89199}"/>
              </a:ext>
            </a:extLst>
          </p:cNvPr>
          <p:cNvSpPr/>
          <p:nvPr/>
        </p:nvSpPr>
        <p:spPr>
          <a:xfrm>
            <a:off x="3736018" y="4836742"/>
            <a:ext cx="847409" cy="1707412"/>
          </a:xfrm>
          <a:prstGeom prst="rect">
            <a:avLst/>
          </a:prstGeom>
          <a:solidFill>
            <a:srgbClr val="0E3B68">
              <a:alpha val="16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81BC6F-8525-D5E4-E998-D451D8E5EFB6}"/>
              </a:ext>
            </a:extLst>
          </p:cNvPr>
          <p:cNvSpPr txBox="1"/>
          <p:nvPr/>
        </p:nvSpPr>
        <p:spPr>
          <a:xfrm>
            <a:off x="3660431" y="4643962"/>
            <a:ext cx="1897772" cy="1306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 </a:t>
            </a:r>
            <a:r>
              <a:rPr lang="ko-KR" altLang="en-US" sz="80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실거래가평균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84</a:t>
            </a:r>
            <a:r>
              <a:rPr lang="en-US" altLang="ko-KR" sz="8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㎡ </a:t>
            </a:r>
            <a:r>
              <a:rPr lang="ko-KR" altLang="en-US" sz="8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800" b="0">
              <a:solidFill>
                <a:srgbClr val="66666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7C3F8-8124-354F-0B9E-F8E5F1C3697B}"/>
              </a:ext>
            </a:extLst>
          </p:cNvPr>
          <p:cNvSpPr txBox="1"/>
          <p:nvPr/>
        </p:nvSpPr>
        <p:spPr>
          <a:xfrm>
            <a:off x="934344" y="539663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endParaRPr sz="700" b="0">
              <a:solidFill>
                <a:srgbClr val="0029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1E392-8B64-CA52-8701-B78FCF17B0E2}"/>
              </a:ext>
            </a:extLst>
          </p:cNvPr>
          <p:cNvSpPr txBox="1"/>
          <p:nvPr/>
        </p:nvSpPr>
        <p:spPr>
          <a:xfrm>
            <a:off x="934344" y="515353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28871-FCC7-8CE2-362C-558F7E26A0B8}"/>
              </a:ext>
            </a:extLst>
          </p:cNvPr>
          <p:cNvSpPr txBox="1"/>
          <p:nvPr/>
        </p:nvSpPr>
        <p:spPr>
          <a:xfrm>
            <a:off x="934344" y="584075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</a:t>
            </a: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59B269-9D2F-8D9C-1D1D-8BE041BC29A9}"/>
              </a:ext>
            </a:extLst>
          </p:cNvPr>
          <p:cNvSpPr txBox="1"/>
          <p:nvPr/>
        </p:nvSpPr>
        <p:spPr>
          <a:xfrm>
            <a:off x="745795" y="4857208"/>
            <a:ext cx="1278793" cy="2042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b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동대구역화성파크드림 ['23.06, 1079세대]</a:t>
            </a: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B044D2-A45D-1CC9-3571-C72546E45796}"/>
              </a:ext>
            </a:extLst>
          </p:cNvPr>
          <p:cNvSpPr txBox="1"/>
          <p:nvPr/>
        </p:nvSpPr>
        <p:spPr>
          <a:xfrm>
            <a:off x="1823800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더샵디어엘로 ['24.04, 1190세대]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174578-0886-1C7B-FD76-C8BB990A1C73}"/>
              </a:ext>
            </a:extLst>
          </p:cNvPr>
          <p:cNvSpPr txBox="1"/>
          <p:nvPr/>
        </p:nvSpPr>
        <p:spPr>
          <a:xfrm>
            <a:off x="2743513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b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동대구역푸르지오브리센트 ['24.07, 794세대]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C261A1-5C0F-FBC1-6542-BD370D532AB9}"/>
              </a:ext>
            </a:extLst>
          </p:cNvPr>
          <p:cNvSpPr txBox="1"/>
          <p:nvPr/>
        </p:nvSpPr>
        <p:spPr>
          <a:xfrm>
            <a:off x="3669575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센트럴파크대현 ['16.05, 1106세대]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9EC756-754D-BA02-5DCA-0A0A409D2F55}"/>
              </a:ext>
            </a:extLst>
          </p:cNvPr>
          <p:cNvSpPr txBox="1"/>
          <p:nvPr/>
        </p:nvSpPr>
        <p:spPr>
          <a:xfrm>
            <a:off x="4592461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 b="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60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7E0338-9EBF-02F4-0EC9-E811539DF7E1}"/>
              </a:ext>
            </a:extLst>
          </p:cNvPr>
          <p:cNvSpPr/>
          <p:nvPr/>
        </p:nvSpPr>
        <p:spPr>
          <a:xfrm>
            <a:off x="5466468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46FEFCE-1BC5-FD61-1F25-FC05F36AD6DE}"/>
              </a:ext>
            </a:extLst>
          </p:cNvPr>
          <p:cNvSpPr/>
          <p:nvPr/>
        </p:nvSpPr>
        <p:spPr>
          <a:xfrm>
            <a:off x="2444645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D066A60-5CEB-4B7E-E9F0-9BEDE183EAC9}"/>
              </a:ext>
            </a:extLst>
          </p:cNvPr>
          <p:cNvSpPr/>
          <p:nvPr/>
        </p:nvSpPr>
        <p:spPr>
          <a:xfrm>
            <a:off x="3165141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A02D392-A1D2-389A-B28B-BBE70569E0E6}"/>
              </a:ext>
            </a:extLst>
          </p:cNvPr>
          <p:cNvSpPr/>
          <p:nvPr/>
        </p:nvSpPr>
        <p:spPr>
          <a:xfrm>
            <a:off x="3891612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E3EE131-F6DE-8BAF-4BE0-FF95FDD5CA8C}"/>
              </a:ext>
            </a:extLst>
          </p:cNvPr>
          <p:cNvSpPr/>
          <p:nvPr/>
        </p:nvSpPr>
        <p:spPr>
          <a:xfrm>
            <a:off x="4640943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2D20883-C31B-BA53-C5DC-772E5A62DC63}"/>
              </a:ext>
            </a:extLst>
          </p:cNvPr>
          <p:cNvSpPr/>
          <p:nvPr/>
        </p:nvSpPr>
        <p:spPr>
          <a:xfrm>
            <a:off x="5628740" y="2237281"/>
            <a:ext cx="134444" cy="13444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BACAE18-D3A1-DD61-C782-EEDE0D9A9FEE}"/>
              </a:ext>
            </a:extLst>
          </p:cNvPr>
          <p:cNvSpPr/>
          <p:nvPr/>
        </p:nvSpPr>
        <p:spPr>
          <a:xfrm>
            <a:off x="1337687" y="4040281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9DE70C10-980C-7F21-709D-FCD476454A1D}"/>
              </a:ext>
            </a:extLst>
          </p:cNvPr>
          <p:cNvSpPr/>
          <p:nvPr/>
        </p:nvSpPr>
        <p:spPr>
          <a:xfrm>
            <a:off x="7705250" y="2264331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D1512371-DF3E-C1E0-AC43-03765E457C55}"/>
              </a:ext>
            </a:extLst>
          </p:cNvPr>
          <p:cNvSpPr/>
          <p:nvPr/>
        </p:nvSpPr>
        <p:spPr>
          <a:xfrm>
            <a:off x="8415691" y="4862545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Rectangle 20">
            <a:extLst>
              <a:ext uri="{FF2B5EF4-FFF2-40B4-BE49-F238E27FC236}">
                <a16:creationId xmlns:a16="http://schemas.microsoft.com/office/drawing/2014/main" id="{51C93928-7845-949C-F390-F348E95657BB}"/>
              </a:ext>
            </a:extLst>
          </p:cNvPr>
          <p:cNvSpPr/>
          <p:nvPr/>
        </p:nvSpPr>
        <p:spPr>
          <a:xfrm>
            <a:off x="6141544" y="4443006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6FDC66-5D19-8226-C15A-8A490EB16E3C}"/>
              </a:ext>
            </a:extLst>
          </p:cNvPr>
          <p:cNvSpPr txBox="1"/>
          <p:nvPr/>
        </p:nvSpPr>
        <p:spPr>
          <a:xfrm>
            <a:off x="6248224" y="4424058"/>
            <a:ext cx="1139993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78FBB3CD-233B-7918-52CC-F4841A8B4B61}"/>
              </a:ext>
            </a:extLst>
          </p:cNvPr>
          <p:cNvSpPr/>
          <p:nvPr/>
        </p:nvSpPr>
        <p:spPr>
          <a:xfrm>
            <a:off x="6134738" y="1876420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ED813A-66C9-68A8-4ADB-71E42D9E100F}"/>
              </a:ext>
            </a:extLst>
          </p:cNvPr>
          <p:cNvSpPr txBox="1"/>
          <p:nvPr/>
        </p:nvSpPr>
        <p:spPr>
          <a:xfrm>
            <a:off x="6241418" y="1857472"/>
            <a:ext cx="4419600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적정 분양가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AA7E2106-DE1E-A075-91B5-42244469FE48}"/>
              </a:ext>
            </a:extLst>
          </p:cNvPr>
          <p:cNvSpPr/>
          <p:nvPr/>
        </p:nvSpPr>
        <p:spPr>
          <a:xfrm>
            <a:off x="2350247" y="3490117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10C624D5-2B51-0372-49AD-D2EEAD771E8E}"/>
              </a:ext>
            </a:extLst>
          </p:cNvPr>
          <p:cNvSpPr/>
          <p:nvPr/>
        </p:nvSpPr>
        <p:spPr>
          <a:xfrm>
            <a:off x="3070743" y="3490117"/>
            <a:ext cx="188796" cy="188796"/>
          </a:xfrm>
          <a:prstGeom prst="ellipse">
            <a:avLst/>
          </a:prstGeom>
          <a:solidFill>
            <a:srgbClr val="0070C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C0CF2FD-BD99-D532-AF27-E14F7AE1F8F1}"/>
              </a:ext>
            </a:extLst>
          </p:cNvPr>
          <p:cNvSpPr/>
          <p:nvPr/>
        </p:nvSpPr>
        <p:spPr>
          <a:xfrm>
            <a:off x="3814987" y="3487854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994D67D1-1B89-D2CC-FF31-DB526170D663}"/>
              </a:ext>
            </a:extLst>
          </p:cNvPr>
          <p:cNvSpPr/>
          <p:nvPr/>
        </p:nvSpPr>
        <p:spPr>
          <a:xfrm>
            <a:off x="4514919" y="3487854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689ECE44-EB26-8CFB-27D4-CF13044A5A91}"/>
              </a:ext>
            </a:extLst>
          </p:cNvPr>
          <p:cNvSpPr/>
          <p:nvPr/>
        </p:nvSpPr>
        <p:spPr>
          <a:xfrm>
            <a:off x="5256947" y="3487854"/>
            <a:ext cx="188796" cy="188796"/>
          </a:xfrm>
          <a:prstGeom prst="ellipse">
            <a:avLst/>
          </a:prstGeom>
          <a:solidFill>
            <a:srgbClr val="0070C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59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d2bdc0e-5398-45bc-aa28-8d468ea7222c}" enabled="1" method="Privileged" siteId="{b9f2ea37-332a-432b-b744-ecfc9763abf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178</TotalTime>
  <Words>299</Words>
  <Application>Microsoft Office PowerPoint</Application>
  <PresentationFormat>와이드스크린</PresentationFormat>
  <Paragraphs>64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Noto Sans KR</vt:lpstr>
      <vt:lpstr>Noto Serif KR</vt:lpstr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박준(Park, Joon) 책임/조직개발팀 (jpark@gsenc.com)</dc:creator>
  <cp:lastModifiedBy>임성수(Lim, Seongsu) / 건축·주택마케팅팀(sslim02@gsenc.com)</cp:lastModifiedBy>
  <cp:revision>5</cp:revision>
  <dcterms:created xsi:type="dcterms:W3CDTF">2024-07-10T08:00:59Z</dcterms:created>
  <dcterms:modified xsi:type="dcterms:W3CDTF">2026-08-10T02:38:16Z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d2bdc0e-5398-45bc-aa28-8d468ea7222c_Enabled">
    <vt:lpwstr>true</vt:lpwstr>
  </property>
  <property fmtid="{D5CDD505-2E9C-101B-9397-08002B2CF9AE}" pid="3" name="MSIP_Label_ed2bdc0e-5398-45bc-aa28-8d468ea7222c_SetDate">
    <vt:lpwstr>2024-07-10T08:02:55Z</vt:lpwstr>
  </property>
  <property fmtid="{D5CDD505-2E9C-101B-9397-08002B2CF9AE}" pid="4" name="MSIP_Label_ed2bdc0e-5398-45bc-aa28-8d468ea7222c_Method">
    <vt:lpwstr>Privileged</vt:lpwstr>
  </property>
  <property fmtid="{D5CDD505-2E9C-101B-9397-08002B2CF9AE}" pid="5" name="MSIP_Label_ed2bdc0e-5398-45bc-aa28-8d468ea7222c_Name">
    <vt:lpwstr>공개</vt:lpwstr>
  </property>
  <property fmtid="{D5CDD505-2E9C-101B-9397-08002B2CF9AE}" pid="6" name="MSIP_Label_ed2bdc0e-5398-45bc-aa28-8d468ea7222c_SiteId">
    <vt:lpwstr>b9f2ea37-332a-432b-b744-ecfc9763abfd</vt:lpwstr>
  </property>
  <property fmtid="{D5CDD505-2E9C-101B-9397-08002B2CF9AE}" pid="7" name="MSIP_Label_ed2bdc0e-5398-45bc-aa28-8d468ea7222c_ActionId">
    <vt:lpwstr>6e6cfc2f-cca6-4543-92f7-d7bd7af2527a</vt:lpwstr>
  </property>
  <property fmtid="{D5CDD505-2E9C-101B-9397-08002B2CF9AE}" pid="8" name="MSIP_Label_ed2bdc0e-5398-45bc-aa28-8d468ea7222c_ContentBits">
    <vt:lpwstr>0</vt:lpwstr>
  </property>
</Properties>
</file>