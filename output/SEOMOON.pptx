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6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F3FE6A5C-59B2-4692-9664-566D95B7BE3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06" userDrawn="1">
          <p15:clr>
            <a:srgbClr val="A4A3A4"/>
          </p15:clr>
        </p15:guide>
        <p15:guide id="2" pos="302" userDrawn="1">
          <p15:clr>
            <a:srgbClr val="A4A3A4"/>
          </p15:clr>
        </p15:guide>
        <p15:guide id="3" pos="7378" userDrawn="1">
          <p15:clr>
            <a:srgbClr val="A4A3A4"/>
          </p15:clr>
        </p15:guide>
        <p15:guide id="4" orient="horz" pos="4315" userDrawn="1">
          <p15:clr>
            <a:srgbClr val="A4A3A4"/>
          </p15:clr>
        </p15:guide>
        <p15:guide id="5" orient="horz" pos="4110" userDrawn="1">
          <p15:clr>
            <a:srgbClr val="A4A3A4"/>
          </p15:clr>
        </p15:guide>
        <p15:guide id="6" pos="7174" userDrawn="1">
          <p15:clr>
            <a:srgbClr val="A4A3A4"/>
          </p15:clr>
        </p15:guide>
        <p15:guide id="7" pos="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941"/>
    <a:srgbClr val="D9D9D9"/>
    <a:srgbClr val="7F7F7F"/>
    <a:srgbClr val="D8DFE7"/>
    <a:srgbClr val="E8A93B"/>
    <a:srgbClr val="0000DA"/>
    <a:srgbClr val="0000FF"/>
    <a:srgbClr val="0E3B68"/>
    <a:srgbClr val="2E9E4F"/>
    <a:srgbClr val="C03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4A0B7B-7532-452B-BDA1-E7D84C1B5AF4}" v="78" dt="2026-07-21T02:07:26.4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>
        <p:guide orient="horz" pos="3906"/>
        <p:guide pos="302"/>
        <p:guide pos="7378"/>
        <p:guide orient="horz" pos="4315"/>
        <p:guide orient="horz" pos="4110"/>
        <p:guide pos="7174"/>
        <p:guide pos="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고가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대신동</c:v>
                </c:pt>
                <c:pt idx="1">
                  <c:v>남산동</c:v>
                </c:pt>
                <c:pt idx="2">
                  <c:v>대명동</c:v>
                </c:pt>
              </c:strCache>
            </c:strRef>
          </c:cat>
          <c:val>
            <c:numRef>
              <c:f>Sheet1!$B$2:$B$4</c:f>
              <c:numCache>
                <c:formatCode>##.0"억"</c:formatCode>
                <c:ptCount val="3"/>
                <c:pt idx="0">
                  <c:v>6.9</c:v>
                </c:pt>
                <c:pt idx="1">
                  <c:v>9.3</c:v>
                </c:pt>
                <c:pt idx="2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5F-4867-A567-F7155FF26F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저가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대신동</c:v>
                </c:pt>
                <c:pt idx="1">
                  <c:v>남산동</c:v>
                </c:pt>
                <c:pt idx="2">
                  <c:v>대명동</c:v>
                </c:pt>
              </c:strCache>
            </c:strRef>
          </c:cat>
          <c:val>
            <c:numRef>
              <c:f>Sheet1!$C$2:$C$4</c:f>
              <c:numCache>
                <c:formatCode>##.0"억"</c:formatCode>
                <c:ptCount val="3"/>
                <c:pt idx="0">
                  <c:v>3</c:v>
                </c:pt>
                <c:pt idx="1">
                  <c:v>6</c:v>
                </c:pt>
                <c:pt idx="2">
                  <c:v>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5F-4867-A567-F7155FF26F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평균가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11"/>
            <c:spPr>
              <a:solidFill>
                <a:srgbClr val="0070C0"/>
              </a:solidFill>
              <a:ln w="9525">
                <a:noFill/>
              </a:ln>
              <a:effectLst/>
            </c:spPr>
          </c:marker>
          <c:dLbls>
            <c:dLbl>
              <c:idx val="2"/>
              <c:layout>
                <c:manualLayout>
                  <c:x val="-5.2765899102875848E-3"/>
                  <c:y val="3.091420345169303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85F-4867-A567-F7155FF26F4C}"/>
                </c:ext>
              </c:extLst>
            </c:dLbl>
            <c:dLbl>
              <c:idx val="3"/>
              <c:layout>
                <c:manualLayout>
                  <c:x val="-5.2765073266635302E-3"/>
                  <c:y val="-8.628945011827985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85F-4867-A567-F7155FF26F4C}"/>
                </c:ext>
              </c:extLst>
            </c:dLbl>
            <c:dLbl>
              <c:idx val="4"/>
              <c:layout>
                <c:manualLayout>
                  <c:x val="-5.0699120945903644E-3"/>
                  <c:y val="-2.1913137702502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85F-4867-A567-F7155FF26F4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70C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대신동</c:v>
                </c:pt>
                <c:pt idx="1">
                  <c:v>남산동</c:v>
                </c:pt>
                <c:pt idx="2">
                  <c:v>대명동</c:v>
                </c:pt>
              </c:strCache>
            </c:strRef>
          </c:cat>
          <c:val>
            <c:numRef>
              <c:f>Sheet1!$D$2:$D$4</c:f>
              <c:numCache>
                <c:formatCode>##.0"억"</c:formatCode>
                <c:ptCount val="3"/>
                <c:pt idx="0">
                  <c:v>5.1</c:v>
                </c:pt>
                <c:pt idx="1">
                  <c:v>7.3</c:v>
                </c:pt>
                <c:pt idx="2">
                  <c:v>4.6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85F-4867-A567-F7155FF26F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bg1">
                  <a:lumMod val="50000"/>
                </a:schemeClr>
              </a:solidFill>
              <a:round/>
            </a:ln>
            <a:effectLst/>
          </c:spPr>
        </c:hiLowLines>
        <c:axId val="56828320"/>
        <c:axId val="513862112"/>
      </c:stockChart>
      <c:catAx>
        <c:axId val="568283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13862112"/>
        <c:crosses val="autoZero"/>
        <c:auto val="1"/>
        <c:lblAlgn val="ctr"/>
        <c:lblOffset val="100"/>
        <c:noMultiLvlLbl val="0"/>
      </c:catAx>
      <c:valAx>
        <c:axId val="513862112"/>
        <c:scaling>
          <c:orientation val="minMax"/>
          <c:max val="11"/>
          <c:min val="1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##&quot;억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6828320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547687353034356E-2"/>
          <c:y val="0.18470524666218494"/>
          <c:w val="0.87623858064253579"/>
          <c:h val="0.5881965588210325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가격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bg1">
                  <a:lumMod val="5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C346-489F-BBF0-DEA97FF02874}"/>
              </c:ext>
            </c:extLst>
          </c:dPt>
          <c:dPt>
            <c:idx val="1"/>
            <c:invertIfNegative val="1"/>
            <c:bubble3D val="0"/>
            <c:spPr>
              <a:solidFill>
                <a:srgbClr val="D9D9D9"/>
              </a:solidFill>
            </c:spPr>
            <c:extLst>
              <c:ext xmlns:c16="http://schemas.microsoft.com/office/drawing/2014/chart" uri="{C3380CC4-5D6E-409C-BE32-E72D297353CC}">
                <c16:uniqueId val="{00000003-C346-489F-BBF0-DEA97FF02874}"/>
              </c:ext>
            </c:extLst>
          </c:dPt>
          <c:dPt>
            <c:idx val="2"/>
            <c:invertIfNegative val="1"/>
            <c:bubble3D val="0"/>
            <c:spPr>
              <a:solidFill>
                <a:srgbClr val="0070C0"/>
              </a:solidFill>
            </c:spPr>
            <c:extLst>
              <c:ext xmlns:c16="http://schemas.microsoft.com/office/drawing/2014/chart" uri="{C3380CC4-5D6E-409C-BE32-E72D297353CC}">
                <c16:uniqueId val="{00000005-C346-489F-BBF0-DEA97FF0287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1BFCC3C2-F852-4F5E-B7B6-56EFD6F20625}" type="VALUE">
                      <a:rPr lang="en-US" altLang="ko-KR" smtClean="0"/>
                      <a:pPr/>
                      <a:t>[값]</a:t>
                    </a:fld>
                    <a:endParaRPr lang="ko-KR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C346-489F-BBF0-DEA97FF0287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C34035B-61B1-43BB-A437-5300AADDE621}" type="VALUE">
                      <a:rPr lang="en-US" altLang="ko-KR" smtClean="0"/>
                      <a:pPr/>
                      <a:t>[값]</a:t>
                    </a:fld>
                    <a:endParaRPr lang="ko-KR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346-489F-BBF0-DEA97FF0287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D700D4C-61BB-415B-B47A-C92737DABEC5}" type="VALUE">
                      <a:rPr lang="en-US" altLang="ko-KR" smtClean="0"/>
                      <a:pPr/>
                      <a:t>[값]</a:t>
                    </a:fld>
                    <a:endParaRPr lang="ko-KR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346-489F-BBF0-DEA97FF02874}"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222222"/>
                    </a:solidFill>
                    <a:latin typeface="Noto Sans KR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e편한세상대신
('18.08입주)</c:v>
                </c:pt>
                <c:pt idx="1">
                  <c:v>남산자이하늘채
('22.03입주)</c:v>
                </c:pt>
                <c:pt idx="2">
                  <c:v>SITE 적정가
(신규)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5.5</c:v>
                </c:pt>
                <c:pt idx="1">
                  <c:v>7.3</c:v>
                </c:pt>
                <c:pt idx="2">
                  <c:v>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346-489F-BBF0-DEA97FF028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 b="0">
                <a:solidFill>
                  <a:schemeClr val="bg1">
                    <a:lumMod val="50000"/>
                  </a:schemeClr>
                </a:solidFill>
                <a:latin typeface="Noto Sans KR"/>
              </a:defRPr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#,##0.0_ 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591342031373475"/>
          <c:y val="0.12970539040880283"/>
          <c:w val="0.40151900454517431"/>
          <c:h val="0.67321087102578925"/>
        </c:manualLayout>
      </c:layout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e편한세상대신</c:v>
                </c:pt>
              </c:strCache>
            </c:strRef>
          </c:tx>
          <c:spPr>
            <a:ln w="12700">
              <a:solidFill>
                <a:srgbClr val="7F7F7F"/>
              </a:solidFill>
            </a:ln>
          </c:spPr>
          <c:marker>
            <c:symbol val="circle"/>
            <c:size val="5"/>
            <c:spPr>
              <a:solidFill>
                <a:srgbClr val="7F7F7F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입지(35)</c:v>
                </c:pt>
                <c:pt idx="1">
                  <c:v>브랜드(15)</c:v>
                </c:pt>
                <c:pt idx="2">
                  <c:v>단지(40)</c:v>
                </c:pt>
                <c:pt idx="3">
                  <c:v>가격수준(10)</c:v>
                </c:pt>
                <c:pt idx="4">
                  <c:v>연식(50)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2.42</c:v>
                </c:pt>
                <c:pt idx="1">
                  <c:v>4</c:v>
                </c:pt>
                <c:pt idx="2">
                  <c:v>1.375</c:v>
                </c:pt>
                <c:pt idx="3">
                  <c:v>3.5</c:v>
                </c:pt>
                <c:pt idx="4">
                  <c:v>2.75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F6-4B4E-B125-F20A7D46C7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남산자이하늘채</c:v>
                </c:pt>
              </c:strCache>
            </c:strRef>
          </c:tx>
          <c:spPr>
            <a:ln w="12700">
              <a:solidFill>
                <a:srgbClr val="D9D9D9"/>
              </a:solidFill>
            </a:ln>
          </c:spPr>
          <c:marker>
            <c:symbol val="circle"/>
            <c:size val="5"/>
            <c:spPr>
              <a:solidFill>
                <a:srgbClr val="D9D9D9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입지(35)</c:v>
                </c:pt>
                <c:pt idx="1">
                  <c:v>브랜드(15)</c:v>
                </c:pt>
                <c:pt idx="2">
                  <c:v>단지(40)</c:v>
                </c:pt>
                <c:pt idx="3">
                  <c:v>가격수준(10)</c:v>
                </c:pt>
                <c:pt idx="4">
                  <c:v>연식(50)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2.42</c:v>
                </c:pt>
                <c:pt idx="1">
                  <c:v>5</c:v>
                </c:pt>
                <c:pt idx="2">
                  <c:v>2.5</c:v>
                </c:pt>
                <c:pt idx="3">
                  <c:v>4</c:v>
                </c:pt>
                <c:pt idx="4">
                  <c:v>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F6-4B4E-B125-F20A7D46C76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SITE</c:v>
                </c:pt>
              </c:strCache>
            </c:strRef>
          </c:tx>
          <c:spPr>
            <a:ln w="28575">
              <a:solidFill>
                <a:srgbClr val="0070C0"/>
              </a:solidFill>
            </a:ln>
          </c:spPr>
          <c:marker>
            <c:symbol val="circle"/>
            <c:size val="8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입지(35)</c:v>
                </c:pt>
                <c:pt idx="1">
                  <c:v>브랜드(15)</c:v>
                </c:pt>
                <c:pt idx="2">
                  <c:v>단지(40)</c:v>
                </c:pt>
                <c:pt idx="3">
                  <c:v>가격수준(10)</c:v>
                </c:pt>
                <c:pt idx="4">
                  <c:v>연식(50)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2.4</c:v>
                </c:pt>
                <c:pt idx="1">
                  <c:v>5</c:v>
                </c:pt>
                <c:pt idx="2">
                  <c:v>2.6</c:v>
                </c:pt>
                <c:pt idx="3">
                  <c:v>3.5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0F6-4B4E-B125-F20A7D46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chemeClr val="bg1">
                    <a:lumMod val="50000"/>
                  </a:schemeClr>
                </a:solidFill>
                <a:latin typeface="Malgun Gothic"/>
              </a:defRPr>
            </a:pPr>
            <a:endParaRPr lang="ko-KR"/>
          </a:p>
        </c:txPr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  <c:max val="5"/>
          <c:min val="0"/>
        </c:scaling>
        <c:delete val="0"/>
        <c:axPos val="l"/>
        <c:majorGridlines>
          <c:spPr>
            <a:ln>
              <a:solidFill>
                <a:schemeClr val="bg1">
                  <a:lumMod val="95000"/>
                </a:schemeClr>
              </a:solidFill>
            </a:ln>
          </c:spPr>
        </c:majorGridlines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600">
                <a:solidFill>
                  <a:srgbClr val="666666"/>
                </a:solidFill>
              </a:defRPr>
            </a:pPr>
            <a:endParaRPr lang="ko-KR"/>
          </a:p>
        </c:txPr>
        <c:crossAx val="2073612648"/>
        <c:crosses val="autoZero"/>
        <c:crossBetween val="between"/>
        <c:majorUnit val="1"/>
      </c:valAx>
    </c:plotArea>
    <c:legend>
      <c:legendPos val="b"/>
      <c:layout>
        <c:manualLayout>
          <c:xMode val="edge"/>
          <c:yMode val="edge"/>
          <c:x val="3.0125440646524428E-2"/>
          <c:y val="0.84311821970391043"/>
          <c:w val="0.91867444558400746"/>
          <c:h val="0.11213006422634737"/>
        </c:manualLayout>
      </c:layout>
      <c:overlay val="0"/>
      <c:txPr>
        <a:bodyPr/>
        <a:lstStyle/>
        <a:p>
          <a:pPr>
            <a:defRPr sz="60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A6A05B4-7FC7-5875-EB92-D373A058F0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013332F-C9DC-5548-8A8A-FC477FCDD7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8AA42-F437-4551-9DC4-B6AE43CA235B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F14A6E-DCDE-8EED-C0EF-1F8E229AF4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25B3A2-038E-9B5E-28B8-83D43AA55B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FE87B-71E7-4D18-B35C-9F4C3A6419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6099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F3730F-E94E-471A-B925-DECDBFD540D2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21E66-B9D7-49D6-A2A0-8638A54089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441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221E66-B9D7-49D6-A2A0-8638A54089B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6074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9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3.png"/><Relationship Id="rId8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1B13DCF-1F91-D69F-0EC5-9DA845187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92333" y="2550936"/>
            <a:ext cx="2193594" cy="24378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FB14A1F-4C50-8E6E-629D-503FFE33D3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80847" y="1714062"/>
            <a:ext cx="1438354" cy="134760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07DF0C7-63D9-BED4-1FE5-76BC2DE5944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333681" y="4032974"/>
            <a:ext cx="1583552" cy="195896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AA7D271-151F-99AB-2EDE-74CB554BEAF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74975" y="3969908"/>
            <a:ext cx="1124051" cy="11898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A42DA69-A2F6-AD06-C161-9A2B5273191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770716" y="3594352"/>
            <a:ext cx="988542" cy="116945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7021FD8-A1EF-7EA1-9BBE-FC34313A89A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91746" y="5519024"/>
            <a:ext cx="895243" cy="21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426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고객지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[R] 8">
            <a:extLst>
              <a:ext uri="{FF2B5EF4-FFF2-40B4-BE49-F238E27FC236}">
                <a16:creationId xmlns:a16="http://schemas.microsoft.com/office/drawing/2014/main" id="{A2514C07-9E3B-4511-DDB2-759C426EA995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5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고객지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[R] 8">
            <a:extLst>
              <a:ext uri="{FF2B5EF4-FFF2-40B4-BE49-F238E27FC236}">
                <a16:creationId xmlns:a16="http://schemas.microsoft.com/office/drawing/2014/main" id="{A2514C07-9E3B-4511-DDB2-759C426EA995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601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신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BEA3C1E-0C16-123D-F13D-F8966A36B4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8" name="직선 연결선[R] 8">
            <a:extLst>
              <a:ext uri="{FF2B5EF4-FFF2-40B4-BE49-F238E27FC236}">
                <a16:creationId xmlns:a16="http://schemas.microsoft.com/office/drawing/2014/main" id="{813777C0-E1FF-D439-0D92-249276000A17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0805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A0E94B42-8DFB-0A44-78E0-16755FE8C066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E64732FF-4780-BBA4-6B06-D1CF654E48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13253" y="5885960"/>
            <a:ext cx="794294" cy="8413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F68797-ED3F-7B4F-10E3-9FC979645F18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FB5F9E-5235-C7BC-BC9B-718CB57B3157}"/>
              </a:ext>
            </a:extLst>
          </p:cNvPr>
          <p:cNvSpPr txBox="1"/>
          <p:nvPr userDrawn="1"/>
        </p:nvSpPr>
        <p:spPr>
          <a:xfrm>
            <a:off x="10592088" y="6386125"/>
            <a:ext cx="788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latin typeface="Noto Serif KR" panose="02020200000000000000" pitchFamily="18" charset="-127"/>
                <a:ea typeface="Noto Serif KR" panose="02020200000000000000" pitchFamily="18" charset="-127"/>
              </a:rPr>
              <a:t>신뢰</a:t>
            </a:r>
          </a:p>
        </p:txBody>
      </p:sp>
    </p:spTree>
    <p:extLst>
      <p:ext uri="{BB962C8B-B14F-4D97-AF65-F5344CB8AC3E}">
        <p14:creationId xmlns:p14="http://schemas.microsoft.com/office/powerpoint/2010/main" val="1418483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자율과책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E1338C9-AE1A-F4FC-5B95-9F0073B6B4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72782E0C-56A9-2FB5-8FD9-5A9D07188B65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0805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8">
            <a:extLst>
              <a:ext uri="{FF2B5EF4-FFF2-40B4-BE49-F238E27FC236}">
                <a16:creationId xmlns:a16="http://schemas.microsoft.com/office/drawing/2014/main" id="{863AF1B4-F5C9-1542-780F-9BC64F6A884F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466B0B73-BB6A-2ACC-B195-225D3C60A9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08167" y="5898952"/>
            <a:ext cx="808816" cy="8825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E6ACFF-31C8-F55B-8CDB-78C03E4CFCB9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42709D-7089-5C15-D6BF-4406D55E8CE7}"/>
              </a:ext>
            </a:extLst>
          </p:cNvPr>
          <p:cNvSpPr txBox="1"/>
          <p:nvPr userDrawn="1"/>
        </p:nvSpPr>
        <p:spPr>
          <a:xfrm>
            <a:off x="10371910" y="6386125"/>
            <a:ext cx="1009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latin typeface="Noto Serif KR" panose="02020200000000000000" pitchFamily="18" charset="-127"/>
                <a:ea typeface="Noto Serif KR" panose="02020200000000000000" pitchFamily="18" charset="-127"/>
              </a:rPr>
              <a:t>자율과 책임</a:t>
            </a:r>
          </a:p>
        </p:txBody>
      </p:sp>
    </p:spTree>
    <p:extLst>
      <p:ext uri="{BB962C8B-B14F-4D97-AF65-F5344CB8AC3E}">
        <p14:creationId xmlns:p14="http://schemas.microsoft.com/office/powerpoint/2010/main" val="160300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정도경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5E7593D7-A93F-CCA3-8F87-9CD677B2F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11" name="직선 연결선[R] 8">
            <a:extLst>
              <a:ext uri="{FF2B5EF4-FFF2-40B4-BE49-F238E27FC236}">
                <a16:creationId xmlns:a16="http://schemas.microsoft.com/office/drawing/2014/main" id="{44ADA771-3828-1198-746D-B90174C22B69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0805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8">
            <a:extLst>
              <a:ext uri="{FF2B5EF4-FFF2-40B4-BE49-F238E27FC236}">
                <a16:creationId xmlns:a16="http://schemas.microsoft.com/office/drawing/2014/main" id="{9BC779C7-761F-479B-03A4-457A33624C62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6165E85A-A473-545A-9C1B-48AC4A1B4A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0410" y="5995509"/>
            <a:ext cx="704330" cy="8545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BF0002A-C98A-059F-0E05-5330EC68DB27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C2969F-936A-E68C-245A-B7263F19789A}"/>
              </a:ext>
            </a:extLst>
          </p:cNvPr>
          <p:cNvSpPr txBox="1"/>
          <p:nvPr userDrawn="1"/>
        </p:nvSpPr>
        <p:spPr>
          <a:xfrm>
            <a:off x="10592088" y="6386125"/>
            <a:ext cx="788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latin typeface="Noto Serif KR" panose="02020200000000000000" pitchFamily="18" charset="-127"/>
                <a:ea typeface="Noto Serif KR" panose="02020200000000000000" pitchFamily="18" charset="-127"/>
              </a:rPr>
              <a:t>정도경영</a:t>
            </a:r>
          </a:p>
        </p:txBody>
      </p:sp>
    </p:spTree>
    <p:extLst>
      <p:ext uri="{BB962C8B-B14F-4D97-AF65-F5344CB8AC3E}">
        <p14:creationId xmlns:p14="http://schemas.microsoft.com/office/powerpoint/2010/main" val="307978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미래지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F59AD38-621B-135A-5644-21BA00AC5F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7" name="직선 연결선[R] 8">
            <a:extLst>
              <a:ext uri="{FF2B5EF4-FFF2-40B4-BE49-F238E27FC236}">
                <a16:creationId xmlns:a16="http://schemas.microsoft.com/office/drawing/2014/main" id="{51D50356-D08F-47BA-441F-27DB59A41AD7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0805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[R] 8">
            <a:extLst>
              <a:ext uri="{FF2B5EF4-FFF2-40B4-BE49-F238E27FC236}">
                <a16:creationId xmlns:a16="http://schemas.microsoft.com/office/drawing/2014/main" id="{D4BE9BFB-F571-7D31-742D-60FE8E6C3794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4477C217-FC96-BC3B-16C6-292F1DB1C4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97131" y="5991215"/>
            <a:ext cx="856769" cy="8029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7B9E00-D1A2-4636-186E-F4784B92C950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6B8D8-B0D1-8C62-DC8E-85FB3C3D610E}"/>
              </a:ext>
            </a:extLst>
          </p:cNvPr>
          <p:cNvSpPr txBox="1"/>
          <p:nvPr userDrawn="1"/>
        </p:nvSpPr>
        <p:spPr>
          <a:xfrm>
            <a:off x="10592088" y="6386125"/>
            <a:ext cx="788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>
                <a:latin typeface="Noto Serif KR" panose="02020200000000000000" pitchFamily="18" charset="-127"/>
                <a:ea typeface="Noto Serif KR" panose="02020200000000000000" pitchFamily="18" charset="-127"/>
              </a:rPr>
              <a:t>미래지향</a:t>
            </a:r>
          </a:p>
        </p:txBody>
      </p:sp>
    </p:spTree>
    <p:extLst>
      <p:ext uri="{BB962C8B-B14F-4D97-AF65-F5344CB8AC3E}">
        <p14:creationId xmlns:p14="http://schemas.microsoft.com/office/powerpoint/2010/main" val="1151616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전문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[R] 8">
            <a:extLst>
              <a:ext uri="{FF2B5EF4-FFF2-40B4-BE49-F238E27FC236}">
                <a16:creationId xmlns:a16="http://schemas.microsoft.com/office/drawing/2014/main" id="{338D86FF-37F7-7820-74CB-2581029CCAAA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634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전_핵심가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43D6AEE-C889-F155-8B64-6D1EABBA7C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735" y="6427667"/>
            <a:ext cx="789517" cy="193916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FFE54BE1-58A4-BFF3-426C-4DC556F7573D}"/>
              </a:ext>
            </a:extLst>
          </p:cNvPr>
          <p:cNvCxnSpPr>
            <a:cxnSpLocks/>
          </p:cNvCxnSpPr>
          <p:nvPr userDrawn="1"/>
        </p:nvCxnSpPr>
        <p:spPr>
          <a:xfrm>
            <a:off x="479685" y="6194166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8">
            <a:extLst>
              <a:ext uri="{FF2B5EF4-FFF2-40B4-BE49-F238E27FC236}">
                <a16:creationId xmlns:a16="http://schemas.microsoft.com/office/drawing/2014/main" id="{DA705F86-AF79-68CC-293E-BD9EC157AAA5}"/>
              </a:ext>
            </a:extLst>
          </p:cNvPr>
          <p:cNvCxnSpPr>
            <a:cxnSpLocks/>
          </p:cNvCxnSpPr>
          <p:nvPr userDrawn="1"/>
        </p:nvCxnSpPr>
        <p:spPr>
          <a:xfrm>
            <a:off x="479685" y="833007"/>
            <a:ext cx="112328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18AAD157-1316-F34D-8237-0E85B0CD7E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4625" y="6265096"/>
            <a:ext cx="439407" cy="5190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D4B2963-28ED-DC5B-D3C9-63B5C33EA4D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978314" y="6244907"/>
            <a:ext cx="490001" cy="5190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DAEED1D-2F39-90F2-A663-2147927E048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538118" y="6239719"/>
            <a:ext cx="498960" cy="544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43DAFDC-A984-D62E-E6A1-C87056347E0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102129" y="6280180"/>
            <a:ext cx="434503" cy="52717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71508F6-9661-4963-995E-6B3FB61EAE7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610373" y="6272363"/>
            <a:ext cx="528543" cy="49532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10B71E-C3C9-07C9-F6F5-041B9202162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213251" y="6265096"/>
            <a:ext cx="498960" cy="52742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4DE84DA-3340-2D0C-A431-CC302694D038}"/>
              </a:ext>
            </a:extLst>
          </p:cNvPr>
          <p:cNvSpPr txBox="1"/>
          <p:nvPr userDrawn="1"/>
        </p:nvSpPr>
        <p:spPr>
          <a:xfrm>
            <a:off x="1652280" y="6378431"/>
            <a:ext cx="60980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 더 안전하고 행복한 삶의 미래를 완성합니다</a:t>
            </a:r>
            <a:r>
              <a:rPr lang="en-US" altLang="ko-KR" sz="13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3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8973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55FBE67-4DFE-ABD8-5201-1C3CA1A121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4635" y="5340394"/>
            <a:ext cx="789517" cy="193916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2CABAA45-2386-DCDE-DA6B-90B99CF6B328}"/>
              </a:ext>
            </a:extLst>
          </p:cNvPr>
          <p:cNvCxnSpPr>
            <a:cxnSpLocks/>
          </p:cNvCxnSpPr>
          <p:nvPr userDrawn="1"/>
        </p:nvCxnSpPr>
        <p:spPr>
          <a:xfrm>
            <a:off x="479685" y="5040881"/>
            <a:ext cx="111873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25A1E56C-E4F5-88D5-F9C9-DC75988A20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93118" y="5489983"/>
            <a:ext cx="592441" cy="6584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E79EAEA-C68F-EA19-1CB5-35B4CAADC95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49501" y="5471413"/>
            <a:ext cx="535848" cy="5020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20FA1FA-8436-04B0-39DA-5BE07E02873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444080" y="5102130"/>
            <a:ext cx="795557" cy="98416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2E0C0EC-C0E2-EE33-D30A-48CA4E2F07A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626600" y="6091523"/>
            <a:ext cx="385945" cy="40853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1A2975C-5BC1-8311-4391-EB05CAFB673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950315" y="6402153"/>
            <a:ext cx="706909" cy="39483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8AE3815-E32F-D211-0436-EEFD3735C42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115842" y="5340394"/>
            <a:ext cx="706909" cy="83627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9584F2-AE69-3E4F-FEDF-18E35BAAD665}"/>
              </a:ext>
            </a:extLst>
          </p:cNvPr>
          <p:cNvSpPr txBox="1"/>
          <p:nvPr userDrawn="1"/>
        </p:nvSpPr>
        <p:spPr>
          <a:xfrm>
            <a:off x="8185349" y="5916905"/>
            <a:ext cx="2220103" cy="757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Noto Serif KR" panose="02020200000000000000" pitchFamily="18" charset="-127"/>
                <a:ea typeface="Noto Serif KR" panose="02020200000000000000" pitchFamily="18" charset="-127"/>
              </a:rPr>
              <a:t>투명한 신뢰와 끊임없는 혁신으로</a:t>
            </a:r>
            <a:endParaRPr lang="en-US" altLang="ko-KR" sz="1000">
              <a:latin typeface="Noto Serif KR" panose="02020200000000000000" pitchFamily="18" charset="-127"/>
              <a:ea typeface="Noto Serif KR" panose="02020200000000000000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Noto Serif KR" panose="02020200000000000000" pitchFamily="18" charset="-127"/>
                <a:ea typeface="Noto Serif KR" panose="02020200000000000000" pitchFamily="18" charset="-127"/>
              </a:rPr>
              <a:t>더 안전하고 행복한</a:t>
            </a:r>
            <a:endParaRPr lang="en-US" altLang="ko-KR" sz="1000">
              <a:latin typeface="Noto Serif KR" panose="02020200000000000000" pitchFamily="18" charset="-127"/>
              <a:ea typeface="Noto Serif KR" panose="02020200000000000000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Noto Serif KR" panose="02020200000000000000" pitchFamily="18" charset="-127"/>
                <a:ea typeface="Noto Serif KR" panose="02020200000000000000" pitchFamily="18" charset="-127"/>
              </a:rPr>
              <a:t>삶의 미래를 완성합니다</a:t>
            </a:r>
            <a:r>
              <a:rPr lang="en-US" altLang="ko-KR" sz="1000">
                <a:latin typeface="Noto Serif KR" panose="02020200000000000000" pitchFamily="18" charset="-127"/>
                <a:ea typeface="Noto Serif KR" panose="02020200000000000000" pitchFamily="18" charset="-127"/>
              </a:rPr>
              <a:t>.</a:t>
            </a:r>
            <a:endParaRPr lang="ko-KR" altLang="en-US" sz="1000"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55545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1361C-916F-494B-9340-D474A64F2834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96765-16D4-4832-8CF0-49ED5658AF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42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2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E6D0C-714E-A95E-C682-033BD17B2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7">
            <a:extLst>
              <a:ext uri="{FF2B5EF4-FFF2-40B4-BE49-F238E27FC236}">
                <a16:creationId xmlns:a16="http://schemas.microsoft.com/office/drawing/2014/main" id="{FD2BF451-D273-EADB-8CD4-2E77A9672723}"/>
              </a:ext>
            </a:extLst>
          </p:cNvPr>
          <p:cNvSpPr/>
          <p:nvPr/>
        </p:nvSpPr>
        <p:spPr>
          <a:xfrm>
            <a:off x="511209" y="4264623"/>
            <a:ext cx="5222773" cy="304225"/>
          </a:xfrm>
          <a:prstGeom prst="roundRect">
            <a:avLst>
              <a:gd name="adj" fmla="val 752"/>
            </a:avLst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60" name="차트 59">
            <a:extLst>
              <a:ext uri="{FF2B5EF4-FFF2-40B4-BE49-F238E27FC236}">
                <a16:creationId xmlns:a16="http://schemas.microsoft.com/office/drawing/2014/main" id="{C844CA87-2D4F-197A-13E4-3C024153E0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3662354"/>
              </p:ext>
            </p:extLst>
          </p:nvPr>
        </p:nvGraphicFramePr>
        <p:xfrm>
          <a:off x="475294" y="4836742"/>
          <a:ext cx="5222773" cy="17386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3" name="Rectangle 57">
            <a:extLst>
              <a:ext uri="{FF2B5EF4-FFF2-40B4-BE49-F238E27FC236}">
                <a16:creationId xmlns:a16="http://schemas.microsoft.com/office/drawing/2014/main" id="{B2616656-2AAB-CDC0-E93E-45FB802936E1}"/>
              </a:ext>
            </a:extLst>
          </p:cNvPr>
          <p:cNvSpPr/>
          <p:nvPr/>
        </p:nvSpPr>
        <p:spPr>
          <a:xfrm>
            <a:off x="6135567" y="5436432"/>
            <a:ext cx="5596982" cy="1094845"/>
          </a:xfrm>
          <a:prstGeom prst="roundRect">
            <a:avLst>
              <a:gd name="adj" fmla="val 752"/>
            </a:avLst>
          </a:prstGeom>
          <a:solidFill>
            <a:srgbClr val="F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F1DD0-6AC6-4BA6-1E0A-7836CA5BE981}"/>
              </a:ext>
            </a:extLst>
          </p:cNvPr>
          <p:cNvSpPr/>
          <p:nvPr/>
        </p:nvSpPr>
        <p:spPr>
          <a:xfrm>
            <a:off x="497840" y="401497"/>
            <a:ext cx="182880" cy="1828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80B39-CE07-AFCD-77F0-238020095264}"/>
              </a:ext>
            </a:extLst>
          </p:cNvPr>
          <p:cNvSpPr txBox="1"/>
          <p:nvPr/>
        </p:nvSpPr>
        <p:spPr>
          <a:xfrm>
            <a:off x="753872" y="329591"/>
            <a:ext cx="7772400" cy="3266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20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서문지구 시장조사 보고서</a:t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20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A1AE17-CB5D-7622-FE88-D0150B996055}"/>
              </a:ext>
            </a:extLst>
          </p:cNvPr>
          <p:cNvSpPr txBox="1"/>
          <p:nvPr/>
        </p:nvSpPr>
        <p:spPr>
          <a:xfrm>
            <a:off x="8349269" y="675441"/>
            <a:ext cx="3383280" cy="146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9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’26.08.09  ㅣ  건축·주택마케팅팀</a:t>
            </a:r>
            <a:r>
              <a:rPr sz="9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sz="9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sz="9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sz="9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sz="9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DEF213-F8BA-1A66-350F-45247B9426C4}"/>
              </a:ext>
            </a:extLst>
          </p:cNvPr>
          <p:cNvSpPr/>
          <p:nvPr/>
        </p:nvSpPr>
        <p:spPr>
          <a:xfrm>
            <a:off x="511387" y="1876420"/>
            <a:ext cx="45719" cy="1770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CE0F6-03CD-1A43-8F85-6DB6BF17A887}"/>
              </a:ext>
            </a:extLst>
          </p:cNvPr>
          <p:cNvSpPr txBox="1"/>
          <p:nvPr/>
        </p:nvSpPr>
        <p:spPr>
          <a:xfrm>
            <a:off x="618067" y="1857472"/>
            <a:ext cx="4419600" cy="196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dirty="0" err="1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지역</a:t>
            </a:r>
            <a:r>
              <a:rPr lang="en-US" sz="12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200" b="1" dirty="0" err="1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등급</a:t>
            </a:r>
            <a:endParaRPr sz="1200" b="1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682D7C8-E9DA-596D-0F1D-13F9F8809EE9}"/>
              </a:ext>
            </a:extLst>
          </p:cNvPr>
          <p:cNvSpPr/>
          <p:nvPr/>
        </p:nvSpPr>
        <p:spPr>
          <a:xfrm>
            <a:off x="511387" y="4012441"/>
            <a:ext cx="45719" cy="1770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4E52E1-ECC2-433D-2356-FD974E3F98A2}"/>
              </a:ext>
            </a:extLst>
          </p:cNvPr>
          <p:cNvSpPr txBox="1"/>
          <p:nvPr/>
        </p:nvSpPr>
        <p:spPr>
          <a:xfrm>
            <a:off x="618067" y="3993493"/>
            <a:ext cx="2115824" cy="196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dirty="0" err="1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지역</a:t>
            </a:r>
            <a:r>
              <a:rPr lang="en-US" sz="12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sz="1200" b="1" dirty="0" err="1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위계</a:t>
            </a:r>
            <a:endParaRPr sz="1200" b="1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D00CE9DC-14EB-BC07-8777-904BED94EB6B}"/>
              </a:ext>
            </a:extLst>
          </p:cNvPr>
          <p:cNvSpPr/>
          <p:nvPr/>
        </p:nvSpPr>
        <p:spPr>
          <a:xfrm>
            <a:off x="6141544" y="2177575"/>
            <a:ext cx="5591005" cy="28534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11" name="Chart 28">
            <a:extLst>
              <a:ext uri="{FF2B5EF4-FFF2-40B4-BE49-F238E27FC236}">
                <a16:creationId xmlns:a16="http://schemas.microsoft.com/office/drawing/2014/main" id="{15666FB7-CA58-C874-9068-7AC3C6157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816512"/>
              </p:ext>
            </p:extLst>
          </p:nvPr>
        </p:nvGraphicFramePr>
        <p:xfrm>
          <a:off x="6141544" y="2492918"/>
          <a:ext cx="3177233" cy="17433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" name="TextBox 89">
            <a:extLst>
              <a:ext uri="{FF2B5EF4-FFF2-40B4-BE49-F238E27FC236}">
                <a16:creationId xmlns:a16="http://schemas.microsoft.com/office/drawing/2014/main" id="{14C59B02-BB9D-E310-80DB-1E27194C9D06}"/>
              </a:ext>
            </a:extLst>
          </p:cNvPr>
          <p:cNvSpPr txBox="1"/>
          <p:nvPr/>
        </p:nvSpPr>
        <p:spPr>
          <a:xfrm>
            <a:off x="6500215" y="3640588"/>
            <a:ext cx="531519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@1637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451A634-963A-A3A8-4428-AE822D3B8D3C}"/>
              </a:ext>
            </a:extLst>
          </p:cNvPr>
          <p:cNvSpPr txBox="1"/>
          <p:nvPr/>
        </p:nvSpPr>
        <p:spPr>
          <a:xfrm>
            <a:off x="7432667" y="3640588"/>
            <a:ext cx="531519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00" b="1" dirty="0">
                <a:solidFill>
                  <a:srgbClr val="0029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@2156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BC7AC59-2288-B2A3-9AC2-C6A042CBA508}"/>
              </a:ext>
            </a:extLst>
          </p:cNvPr>
          <p:cNvSpPr txBox="1"/>
          <p:nvPr/>
        </p:nvSpPr>
        <p:spPr>
          <a:xfrm>
            <a:off x="8366370" y="3640588"/>
            <a:ext cx="531519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@2030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F5C5906-E3D1-4933-AFBF-0E290408B2FA}"/>
              </a:ext>
            </a:extLst>
          </p:cNvPr>
          <p:cNvSpPr txBox="1"/>
          <p:nvPr/>
        </p:nvSpPr>
        <p:spPr>
          <a:xfrm>
            <a:off x="6304436" y="2207136"/>
            <a:ext cx="1751986" cy="2029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6.8억  (@2030만원)</a:t>
            </a:r>
            <a:r>
              <a:rPr sz="1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0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sz="600" b="0">
              <a:solidFill>
                <a:srgbClr val="FFFFFF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C18989C-390B-7F16-286A-DEC6297B3299}"/>
              </a:ext>
            </a:extLst>
          </p:cNvPr>
          <p:cNvSpPr txBox="1"/>
          <p:nvPr/>
        </p:nvSpPr>
        <p:spPr>
          <a:xfrm>
            <a:off x="9181591" y="2235702"/>
            <a:ext cx="2340688" cy="1690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84㎡ (34평)기준 (확장포함 · 이자후불제)</a:t>
            </a:r>
            <a:r>
              <a:rPr lang="en-US"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sz="100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sz="100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0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sz="10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7D873F2-D868-9137-7712-3ADF5E600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986706"/>
              </p:ext>
            </p:extLst>
          </p:nvPr>
        </p:nvGraphicFramePr>
        <p:xfrm>
          <a:off x="1485029" y="2979272"/>
          <a:ext cx="4235625" cy="726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030">
                  <a:extLst>
                    <a:ext uri="{9D8B030D-6E8A-4147-A177-3AD203B41FA5}">
                      <a16:colId xmlns:a16="http://schemas.microsoft.com/office/drawing/2014/main" val="1483610324"/>
                    </a:ext>
                  </a:extLst>
                </a:gridCol>
                <a:gridCol w="729519">
                  <a:extLst>
                    <a:ext uri="{9D8B030D-6E8A-4147-A177-3AD203B41FA5}">
                      <a16:colId xmlns:a16="http://schemas.microsoft.com/office/drawing/2014/main" val="3659169962"/>
                    </a:ext>
                  </a:extLst>
                </a:gridCol>
                <a:gridCol w="729519">
                  <a:extLst>
                    <a:ext uri="{9D8B030D-6E8A-4147-A177-3AD203B41FA5}">
                      <a16:colId xmlns:a16="http://schemas.microsoft.com/office/drawing/2014/main" val="2021771382"/>
                    </a:ext>
                  </a:extLst>
                </a:gridCol>
                <a:gridCol w="729519">
                  <a:extLst>
                    <a:ext uri="{9D8B030D-6E8A-4147-A177-3AD203B41FA5}">
                      <a16:colId xmlns:a16="http://schemas.microsoft.com/office/drawing/2014/main" val="3330070868"/>
                    </a:ext>
                  </a:extLst>
                </a:gridCol>
                <a:gridCol w="729519">
                  <a:extLst>
                    <a:ext uri="{9D8B030D-6E8A-4147-A177-3AD203B41FA5}">
                      <a16:colId xmlns:a16="http://schemas.microsoft.com/office/drawing/2014/main" val="2063125282"/>
                    </a:ext>
                  </a:extLst>
                </a:gridCol>
                <a:gridCol w="729519">
                  <a:extLst>
                    <a:ext uri="{9D8B030D-6E8A-4147-A177-3AD203B41FA5}">
                      <a16:colId xmlns:a16="http://schemas.microsoft.com/office/drawing/2014/main" val="1914549856"/>
                    </a:ext>
                  </a:extLst>
                </a:gridCol>
              </a:tblGrid>
              <a:tr h="242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구분</a:t>
                      </a: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환경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기축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4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분양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9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893292"/>
                  </a:ext>
                </a:extLst>
              </a:tr>
              <a:tr h="242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요소</a:t>
                      </a:r>
                      <a:endParaRPr lang="en-US" altLang="ko-KR" sz="1000">
                        <a:solidFill>
                          <a:srgbClr val="4B4B4B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수급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가격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거래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분양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미분양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6361"/>
                  </a:ext>
                </a:extLst>
              </a:tr>
              <a:tr h="242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rgbClr val="4B4B4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등급</a:t>
                      </a:r>
                      <a:endParaRPr lang="en-US" altLang="ko-KR" sz="1000">
                        <a:solidFill>
                          <a:srgbClr val="4B4B4B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b="1" kern="12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444521"/>
                  </a:ext>
                </a:extLst>
              </a:tr>
            </a:tbl>
          </a:graphicData>
        </a:graphic>
      </p:graphicFrame>
      <p:sp>
        <p:nvSpPr>
          <p:cNvPr id="67" name="TextBox 66">
            <a:extLst>
              <a:ext uri="{FF2B5EF4-FFF2-40B4-BE49-F238E27FC236}">
                <a16:creationId xmlns:a16="http://schemas.microsoft.com/office/drawing/2014/main" id="{BCBEE71E-162E-4FE6-1955-BAF8CD3FBC3B}"/>
              </a:ext>
            </a:extLst>
          </p:cNvPr>
          <p:cNvSpPr txBox="1"/>
          <p:nvPr/>
        </p:nvSpPr>
        <p:spPr>
          <a:xfrm>
            <a:off x="1485029" y="2204355"/>
            <a:ext cx="4212057" cy="694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 dirty="0" err="1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교통	더블역세권 청라언덕역 도보권 및 달구벌대로 인접 교통환경 우수</a:t>
            </a:r>
            <a:r>
              <a:rPr lang="en-US" sz="1100" b="1" dirty="0">
                <a:solidFill>
                  <a:srgbClr val="0029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>
                <a:solidFill>
                  <a:srgbClr val="4B4B4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100" dirty="0">
                <a:solidFill>
                  <a:srgbClr val="4B4B4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>
                <a:solidFill>
                  <a:srgbClr val="4B4B4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100" dirty="0">
                <a:solidFill>
                  <a:srgbClr val="4B4B4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lang="en-US" sz="1100" b="0" dirty="0">
              <a:solidFill>
                <a:srgbClr val="22222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생활	지역 낙후 상권&amp;시장 형성등 생활권역 다소 불편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294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 err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	인접 재개발·재건축 사업 3개현장 진행 중</a:t>
            </a:r>
            <a:r>
              <a:rPr lang="en-US" altLang="ko-KR" sz="1100" b="1" dirty="0">
                <a:solidFill>
                  <a:srgbClr val="0029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1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6CEBC98C-2705-FFF3-3A7B-F23CAD46E013}"/>
              </a:ext>
            </a:extLst>
          </p:cNvPr>
          <p:cNvGrpSpPr/>
          <p:nvPr/>
        </p:nvGrpSpPr>
        <p:grpSpPr>
          <a:xfrm>
            <a:off x="511386" y="2150162"/>
            <a:ext cx="826301" cy="1555626"/>
            <a:chOff x="525084" y="1935076"/>
            <a:chExt cx="1005840" cy="1005840"/>
          </a:xfrm>
        </p:grpSpPr>
        <p:sp>
          <p:nvSpPr>
            <p:cNvPr id="69" name="Rounded Rectangle 22">
              <a:extLst>
                <a:ext uri="{FF2B5EF4-FFF2-40B4-BE49-F238E27FC236}">
                  <a16:creationId xmlns:a16="http://schemas.microsoft.com/office/drawing/2014/main" id="{DB273570-15D1-64EB-DEE0-718A920A09C2}"/>
                </a:ext>
              </a:extLst>
            </p:cNvPr>
            <p:cNvSpPr/>
            <p:nvPr/>
          </p:nvSpPr>
          <p:spPr>
            <a:xfrm>
              <a:off x="525084" y="1935076"/>
              <a:ext cx="1005840" cy="1005840"/>
            </a:xfrm>
            <a:prstGeom prst="roundRect">
              <a:avLst>
                <a:gd name="adj" fmla="val 10491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C00FFF9-80A1-C81D-380C-B90FAD27477A}"/>
                </a:ext>
              </a:extLst>
            </p:cNvPr>
            <p:cNvSpPr txBox="1"/>
            <p:nvPr/>
          </p:nvSpPr>
          <p:spPr>
            <a:xfrm>
              <a:off x="525084" y="2238282"/>
              <a:ext cx="1005840" cy="3994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3200" b="1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B</a:t>
              </a:r>
              <a:endParaRPr sz="3200" b="1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aphicFrame>
        <p:nvGraphicFramePr>
          <p:cNvPr id="77" name="Chart 68">
            <a:extLst>
              <a:ext uri="{FF2B5EF4-FFF2-40B4-BE49-F238E27FC236}">
                <a16:creationId xmlns:a16="http://schemas.microsoft.com/office/drawing/2014/main" id="{9402492F-87AD-E3C6-20DA-CBA800E56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724798"/>
              </p:ext>
            </p:extLst>
          </p:nvPr>
        </p:nvGraphicFramePr>
        <p:xfrm>
          <a:off x="9399380" y="2630803"/>
          <a:ext cx="2263612" cy="1558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5278AB17-DC0B-193B-85B7-0C9A02818C71}"/>
              </a:ext>
            </a:extLst>
          </p:cNvPr>
          <p:cNvSpPr txBox="1"/>
          <p:nvPr/>
        </p:nvSpPr>
        <p:spPr>
          <a:xfrm>
            <a:off x="502920" y="877500"/>
            <a:ext cx="11183112" cy="5329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당 Proj.는 주거 선호도가 높은 남산~대신권역에 위치하나,</a:t>
            </a:r>
            <a:r>
              <a:rPr lang="en-US" altLang="ko-KR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lang="en-US" altLang="ko-KR" sz="1400" b="1">
              <a:solidFill>
                <a:srgbClr val="22222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서구연접 위치 및 인근 노후 주택 밀집 등 권역내 주거선호도는 다소 열위 사업지 인근 기축 단지의 시세 감안 時 적정 시장 수용가 6.8억원(@2,030만원_84타입 기준) 수준</a:t>
            </a:r>
            <a:r>
              <a:rPr lang="en-US" altLang="ko-KR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 err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 err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 err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400" b="1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sz="1400" b="1">
              <a:solidFill>
                <a:srgbClr val="22222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44588959-CDF4-AE04-E7DC-3233C6354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046802"/>
              </p:ext>
            </p:extLst>
          </p:nvPr>
        </p:nvGraphicFramePr>
        <p:xfrm>
          <a:off x="6135566" y="4790981"/>
          <a:ext cx="5596980" cy="541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245">
                  <a:extLst>
                    <a:ext uri="{9D8B030D-6E8A-4147-A177-3AD203B41FA5}">
                      <a16:colId xmlns:a16="http://schemas.microsoft.com/office/drawing/2014/main" val="1483610324"/>
                    </a:ext>
                  </a:extLst>
                </a:gridCol>
                <a:gridCol w="1399245">
                  <a:extLst>
                    <a:ext uri="{9D8B030D-6E8A-4147-A177-3AD203B41FA5}">
                      <a16:colId xmlns:a16="http://schemas.microsoft.com/office/drawing/2014/main" val="3659169962"/>
                    </a:ext>
                  </a:extLst>
                </a:gridCol>
                <a:gridCol w="1399245">
                  <a:extLst>
                    <a:ext uri="{9D8B030D-6E8A-4147-A177-3AD203B41FA5}">
                      <a16:colId xmlns:a16="http://schemas.microsoft.com/office/drawing/2014/main" val="2021771382"/>
                    </a:ext>
                  </a:extLst>
                </a:gridCol>
                <a:gridCol w="1399245">
                  <a:extLst>
                    <a:ext uri="{9D8B030D-6E8A-4147-A177-3AD203B41FA5}">
                      <a16:colId xmlns:a16="http://schemas.microsoft.com/office/drawing/2014/main" val="3330070868"/>
                    </a:ext>
                  </a:extLst>
                </a:gridCol>
              </a:tblGrid>
              <a:tr h="2707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입지 및 시장환경</a:t>
                      </a: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상품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브랜드 영향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분양등급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893292"/>
                  </a:ext>
                </a:extLst>
              </a:tr>
              <a:tr h="2707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E8A93B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● 보통</a:t>
                      </a:r>
                      <a:endParaRPr lang="en-US" altLang="ko-KR" sz="1000" b="1" kern="1200" dirty="0">
                        <a:solidFill>
                          <a:srgbClr val="2E9E4F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T="0" marB="0" anchor="ctr"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2E9E4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● 양호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rgbClr val="2E9E4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● 양호</a:t>
                      </a: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0070C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B 등급()</a:t>
                      </a:r>
                      <a:r>
                        <a:rPr lang="ko-KR" altLang="en-US" sz="1000" b="1" dirty="0">
                          <a:solidFill>
                            <a:srgbClr val="0070C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r>
                        <a:rPr lang="en-US" altLang="ko-KR" sz="1000" b="1" dirty="0">
                          <a:solidFill>
                            <a:srgbClr val="0070C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/>
                      </a:r>
                      <a:endParaRPr lang="ko-KR" altLang="en-US" sz="1000" b="1" dirty="0">
                        <a:solidFill>
                          <a:srgbClr val="0070C0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444521"/>
                  </a:ext>
                </a:extLst>
              </a:tr>
            </a:tbl>
          </a:graphicData>
        </a:graphic>
      </p:graphicFrame>
      <p:grpSp>
        <p:nvGrpSpPr>
          <p:cNvPr id="49" name="그룹 48">
            <a:extLst>
              <a:ext uri="{FF2B5EF4-FFF2-40B4-BE49-F238E27FC236}">
                <a16:creationId xmlns:a16="http://schemas.microsoft.com/office/drawing/2014/main" id="{20482A45-41AD-0E64-0D11-12320F3C199A}"/>
              </a:ext>
            </a:extLst>
          </p:cNvPr>
          <p:cNvGrpSpPr/>
          <p:nvPr/>
        </p:nvGrpSpPr>
        <p:grpSpPr>
          <a:xfrm>
            <a:off x="10444867" y="4611886"/>
            <a:ext cx="1287679" cy="146241"/>
            <a:chOff x="10199864" y="5361615"/>
            <a:chExt cx="1287679" cy="146241"/>
          </a:xfrm>
        </p:grpSpPr>
        <p:sp>
          <p:nvSpPr>
            <p:cNvPr id="52" name="Oval 60">
              <a:extLst>
                <a:ext uri="{FF2B5EF4-FFF2-40B4-BE49-F238E27FC236}">
                  <a16:creationId xmlns:a16="http://schemas.microsoft.com/office/drawing/2014/main" id="{07B53FFF-F5E8-0BCA-F433-1EA590C16577}"/>
                </a:ext>
              </a:extLst>
            </p:cNvPr>
            <p:cNvSpPr/>
            <p:nvPr/>
          </p:nvSpPr>
          <p:spPr>
            <a:xfrm>
              <a:off x="10199864" y="5386549"/>
              <a:ext cx="100584" cy="100584"/>
            </a:xfrm>
            <a:prstGeom prst="ellipse">
              <a:avLst/>
            </a:prstGeom>
            <a:solidFill>
              <a:srgbClr val="2E9E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A13C267-FF7D-7951-EC57-32EB496B79B4}"/>
                </a:ext>
              </a:extLst>
            </p:cNvPr>
            <p:cNvSpPr txBox="1"/>
            <p:nvPr/>
          </p:nvSpPr>
          <p:spPr>
            <a:xfrm>
              <a:off x="10310362" y="5361615"/>
              <a:ext cx="279213" cy="1436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850" b="0">
                  <a:solidFill>
                    <a:schemeClr val="bg1">
                      <a:lumMod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양호</a:t>
              </a:r>
              <a:endParaRPr sz="85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5" name="Oval 62">
              <a:extLst>
                <a:ext uri="{FF2B5EF4-FFF2-40B4-BE49-F238E27FC236}">
                  <a16:creationId xmlns:a16="http://schemas.microsoft.com/office/drawing/2014/main" id="{88BC0F27-C0C6-6C77-C11D-9A860B25A895}"/>
                </a:ext>
              </a:extLst>
            </p:cNvPr>
            <p:cNvSpPr/>
            <p:nvPr/>
          </p:nvSpPr>
          <p:spPr>
            <a:xfrm>
              <a:off x="10650127" y="5389781"/>
              <a:ext cx="100584" cy="100584"/>
            </a:xfrm>
            <a:prstGeom prst="ellipse">
              <a:avLst/>
            </a:prstGeom>
            <a:solidFill>
              <a:srgbClr val="E8A93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529C4B5-CB75-884D-7A3A-F0F00A370F06}"/>
                </a:ext>
              </a:extLst>
            </p:cNvPr>
            <p:cNvSpPr txBox="1"/>
            <p:nvPr/>
          </p:nvSpPr>
          <p:spPr>
            <a:xfrm>
              <a:off x="10722841" y="5364162"/>
              <a:ext cx="337847" cy="1436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850">
                  <a:solidFill>
                    <a:schemeClr val="bg1">
                      <a:lumMod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보통</a:t>
              </a:r>
              <a:endParaRPr sz="85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7" name="Oval 64">
              <a:extLst>
                <a:ext uri="{FF2B5EF4-FFF2-40B4-BE49-F238E27FC236}">
                  <a16:creationId xmlns:a16="http://schemas.microsoft.com/office/drawing/2014/main" id="{925977BB-B470-DAEE-C8DE-2652FF00DF23}"/>
                </a:ext>
              </a:extLst>
            </p:cNvPr>
            <p:cNvSpPr/>
            <p:nvPr/>
          </p:nvSpPr>
          <p:spPr>
            <a:xfrm>
              <a:off x="11079825" y="5382478"/>
              <a:ext cx="100584" cy="100584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8A85053-3E0E-42F8-0CB9-ECC9454DB48C}"/>
                </a:ext>
              </a:extLst>
            </p:cNvPr>
            <p:cNvSpPr txBox="1"/>
            <p:nvPr/>
          </p:nvSpPr>
          <p:spPr>
            <a:xfrm>
              <a:off x="11180409" y="5363538"/>
              <a:ext cx="307134" cy="1436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850" b="0" dirty="0">
                  <a:solidFill>
                    <a:schemeClr val="bg1">
                      <a:lumMod val="50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주의</a:t>
              </a:r>
              <a:endParaRPr sz="850" b="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76" name="Connector 69">
            <a:extLst>
              <a:ext uri="{FF2B5EF4-FFF2-40B4-BE49-F238E27FC236}">
                <a16:creationId xmlns:a16="http://schemas.microsoft.com/office/drawing/2014/main" id="{66060700-8D0A-6728-A44C-3E76B5872531}"/>
              </a:ext>
            </a:extLst>
          </p:cNvPr>
          <p:cNvCxnSpPr>
            <a:cxnSpLocks/>
          </p:cNvCxnSpPr>
          <p:nvPr/>
        </p:nvCxnSpPr>
        <p:spPr>
          <a:xfrm>
            <a:off x="6105216" y="7084316"/>
            <a:ext cx="5341698" cy="0"/>
          </a:xfrm>
          <a:prstGeom prst="line">
            <a:avLst/>
          </a:prstGeom>
          <a:ln w="7620">
            <a:solidFill>
              <a:srgbClr val="D8D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FE75EDB8-1C95-AB6C-E624-E37215AE070D}"/>
              </a:ext>
            </a:extLst>
          </p:cNvPr>
          <p:cNvSpPr txBox="1"/>
          <p:nvPr/>
        </p:nvSpPr>
        <p:spPr>
          <a:xfrm>
            <a:off x="6287658" y="5503921"/>
            <a:ext cx="5364096" cy="941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88900" indent="-88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당 사업지가 위치한 중구는 다수 리딩단지가 위치하여, 자이 브랜드 선호도가 매우 높은 편임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88900" indent="-88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대구 최대시장인 서문시장과 계성초·중학교가 인접하여 생활 인프라 양호</a:t>
            </a:r>
            <a:r>
              <a:rPr lang="en-US" altLang="ko-KR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lang="en-US" altLang="ko-KR" sz="10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신축 대단지, 브랜드 등 상품에 강점이 있으나, 현 시장환경(미분양 물량 해소 중), 입지위계 등을 고려할 때 보수적인 분양가 산정이 적절할 것으로 판단됨</a:t>
            </a:r>
            <a:r>
              <a:rPr lang="ko-KR" altLang="en-US" sz="1050" b="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br>
              <a:rPr lang="en-US" altLang="ko-KR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</a:p>
          <a:p>
            <a:pPr marL="88900" indent="-88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향후 공급 시점 시장여건 및 상품 컨디션 등 고려 분양가 재산정 필요</a:t>
            </a:r>
            <a:r>
              <a:rPr lang="ko-KR" altLang="en-US" sz="1050" b="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br>
              <a:rPr lang="en-US" altLang="ko-KR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1050" b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64D0922-4F4B-5DDF-DECC-99449FC5B2B4}"/>
              </a:ext>
            </a:extLst>
          </p:cNvPr>
          <p:cNvSpPr txBox="1"/>
          <p:nvPr/>
        </p:nvSpPr>
        <p:spPr>
          <a:xfrm>
            <a:off x="591396" y="4312466"/>
            <a:ext cx="4680469" cy="1806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000" dirty="0">
                <a:solidFill>
                  <a:srgbClr val="222222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당 사업지 2·3선호 더블역세권 · 달구벌대로 인접하여 대구시 內 선호도 높은 지역임</a:t>
            </a:r>
            <a:endParaRPr sz="1000" dirty="0">
              <a:solidFill>
                <a:srgbClr val="222222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1DA7BEF-30D7-53AE-5176-39FFE1A89199}"/>
              </a:ext>
            </a:extLst>
          </p:cNvPr>
          <p:cNvSpPr/>
          <p:nvPr/>
        </p:nvSpPr>
        <p:spPr>
          <a:xfrm>
            <a:off x="3736018" y="4836742"/>
            <a:ext cx="847409" cy="1707412"/>
          </a:xfrm>
          <a:prstGeom prst="rect">
            <a:avLst/>
          </a:prstGeom>
          <a:solidFill>
            <a:srgbClr val="0E3B68">
              <a:alpha val="16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81BC6F-8525-D5E4-E998-D451D8E5EFB6}"/>
              </a:ext>
            </a:extLst>
          </p:cNvPr>
          <p:cNvSpPr txBox="1"/>
          <p:nvPr/>
        </p:nvSpPr>
        <p:spPr>
          <a:xfrm>
            <a:off x="3660431" y="4643962"/>
            <a:ext cx="1897772" cy="13061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altLang="ko-KR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최근</a:t>
            </a:r>
            <a:r>
              <a:rPr lang="en-US" altLang="ko-KR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개월 </a:t>
            </a:r>
            <a:r>
              <a:rPr lang="ko-KR" altLang="en-US" sz="800" err="1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실거래가평균</a:t>
            </a:r>
            <a:r>
              <a:rPr lang="en-US" altLang="ko-KR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84</a:t>
            </a:r>
            <a:r>
              <a:rPr lang="en-US" altLang="ko-KR" sz="8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㎡ </a:t>
            </a:r>
            <a:r>
              <a:rPr lang="ko-KR" altLang="en-US" sz="800" b="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기준</a:t>
            </a:r>
            <a:r>
              <a:rPr lang="en-US" altLang="ko-KR" sz="800">
                <a:solidFill>
                  <a:srgbClr val="666666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sz="800" b="0">
              <a:solidFill>
                <a:srgbClr val="666666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7C3F8-8124-354F-0B9E-F8E5F1C3697B}"/>
              </a:ext>
            </a:extLst>
          </p:cNvPr>
          <p:cNvSpPr txBox="1"/>
          <p:nvPr/>
        </p:nvSpPr>
        <p:spPr>
          <a:xfrm>
            <a:off x="934344" y="5396636"/>
            <a:ext cx="374115" cy="114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ko-KR" altLang="en-US" sz="700" b="0">
                <a:solidFill>
                  <a:srgbClr val="00294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평균</a:t>
            </a:r>
            <a:endParaRPr sz="700" b="0">
              <a:solidFill>
                <a:srgbClr val="00294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81E392-8B64-CA52-8701-B78FCF17B0E2}"/>
              </a:ext>
            </a:extLst>
          </p:cNvPr>
          <p:cNvSpPr txBox="1"/>
          <p:nvPr/>
        </p:nvSpPr>
        <p:spPr>
          <a:xfrm>
            <a:off x="934344" y="5153536"/>
            <a:ext cx="374115" cy="114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ko-KR" altLang="en-US" sz="7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고가</a:t>
            </a:r>
            <a:endParaRPr sz="7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728871-FCC7-8CE2-362C-558F7E26A0B8}"/>
              </a:ext>
            </a:extLst>
          </p:cNvPr>
          <p:cNvSpPr txBox="1"/>
          <p:nvPr/>
        </p:nvSpPr>
        <p:spPr>
          <a:xfrm>
            <a:off x="934344" y="5840756"/>
            <a:ext cx="374115" cy="114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ko-KR" altLang="en-US" sz="7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</a:t>
            </a:r>
            <a:r>
              <a:rPr lang="ko-KR" altLang="en-US" sz="7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</a:t>
            </a:r>
            <a:endParaRPr sz="7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859B269-9D2F-8D9C-1D1D-8BE041BC29A9}"/>
              </a:ext>
            </a:extLst>
          </p:cNvPr>
          <p:cNvSpPr txBox="1"/>
          <p:nvPr/>
        </p:nvSpPr>
        <p:spPr>
          <a:xfrm>
            <a:off x="745795" y="4857208"/>
            <a:ext cx="1278793" cy="20422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600" b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대신센트럴자이 ['15.04, 1,147세대]</a:t>
            </a:r>
            <a: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b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sz="6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9B044D2-A45D-1CC9-3571-C72546E45796}"/>
              </a:ext>
            </a:extLst>
          </p:cNvPr>
          <p:cNvSpPr txBox="1"/>
          <p:nvPr/>
        </p:nvSpPr>
        <p:spPr>
          <a:xfrm>
            <a:off x="1823800" y="4857208"/>
            <a:ext cx="971275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60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남산롯데캐슬센트럴스카이 ['21.09, 987세대]</a:t>
            </a:r>
            <a:b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sz="6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D174578-0886-1C7B-FD76-C8BB990A1C73}"/>
              </a:ext>
            </a:extLst>
          </p:cNvPr>
          <p:cNvSpPr txBox="1"/>
          <p:nvPr/>
        </p:nvSpPr>
        <p:spPr>
          <a:xfrm>
            <a:off x="2743513" y="4857208"/>
            <a:ext cx="971275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600" b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교대역하늘채뉴센트원 ['22.06, 975세대]</a:t>
            </a:r>
            <a:b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sz="6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7C261A1-5C0F-FBC1-6542-BD370D532AB9}"/>
              </a:ext>
            </a:extLst>
          </p:cNvPr>
          <p:cNvSpPr txBox="1"/>
          <p:nvPr/>
        </p:nvSpPr>
        <p:spPr>
          <a:xfrm>
            <a:off x="3669575" y="4857208"/>
            <a:ext cx="971275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60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b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00" b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sz="600" b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F9EC756-754D-BA02-5DCA-0A0A409D2F55}"/>
              </a:ext>
            </a:extLst>
          </p:cNvPr>
          <p:cNvSpPr txBox="1"/>
          <p:nvPr/>
        </p:nvSpPr>
        <p:spPr>
          <a:xfrm>
            <a:off x="4592461" y="4857208"/>
            <a:ext cx="971275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 b="0" dirty="0" err="1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br>
              <a:rPr lang="en-US" altLang="ko-KR" sz="600" b="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600" b="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/>
            </a:r>
            <a:endParaRPr sz="600" b="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97E0338-9EBF-02F4-0EC9-E811539DF7E1}"/>
              </a:ext>
            </a:extLst>
          </p:cNvPr>
          <p:cNvSpPr/>
          <p:nvPr/>
        </p:nvSpPr>
        <p:spPr>
          <a:xfrm>
            <a:off x="5466468" y="3271829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46FEFCE-1BC5-FD61-1F25-FC05F36AD6DE}"/>
              </a:ext>
            </a:extLst>
          </p:cNvPr>
          <p:cNvSpPr/>
          <p:nvPr/>
        </p:nvSpPr>
        <p:spPr>
          <a:xfrm>
            <a:off x="2444645" y="3271829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FD066A60-5CEB-4B7E-E9F0-9BEDE183EAC9}"/>
              </a:ext>
            </a:extLst>
          </p:cNvPr>
          <p:cNvSpPr/>
          <p:nvPr/>
        </p:nvSpPr>
        <p:spPr>
          <a:xfrm>
            <a:off x="3165141" y="3271829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8A02D392-A1D2-389A-B28B-BBE70569E0E6}"/>
              </a:ext>
            </a:extLst>
          </p:cNvPr>
          <p:cNvSpPr/>
          <p:nvPr/>
        </p:nvSpPr>
        <p:spPr>
          <a:xfrm>
            <a:off x="3891612" y="3271829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E3EE131-F6DE-8BAF-4BE0-FF95FDD5CA8C}"/>
              </a:ext>
            </a:extLst>
          </p:cNvPr>
          <p:cNvSpPr/>
          <p:nvPr/>
        </p:nvSpPr>
        <p:spPr>
          <a:xfrm>
            <a:off x="4640943" y="3271829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72D20883-C31B-BA53-C5DC-772E5A62DC63}"/>
              </a:ext>
            </a:extLst>
          </p:cNvPr>
          <p:cNvSpPr/>
          <p:nvPr/>
        </p:nvSpPr>
        <p:spPr>
          <a:xfrm>
            <a:off x="5628740" y="2237281"/>
            <a:ext cx="134444" cy="134444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BACAE18-D3A1-DD61-C782-EEDE0D9A9FEE}"/>
              </a:ext>
            </a:extLst>
          </p:cNvPr>
          <p:cNvSpPr/>
          <p:nvPr/>
        </p:nvSpPr>
        <p:spPr>
          <a:xfrm>
            <a:off x="1337687" y="4040281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9DE70C10-980C-7F21-709D-FCD476454A1D}"/>
              </a:ext>
            </a:extLst>
          </p:cNvPr>
          <p:cNvSpPr/>
          <p:nvPr/>
        </p:nvSpPr>
        <p:spPr>
          <a:xfrm>
            <a:off x="7705250" y="2264331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D1512371-DF3E-C1E0-AC43-03765E457C55}"/>
              </a:ext>
            </a:extLst>
          </p:cNvPr>
          <p:cNvSpPr/>
          <p:nvPr/>
        </p:nvSpPr>
        <p:spPr>
          <a:xfrm>
            <a:off x="8415691" y="4862545"/>
            <a:ext cx="134444" cy="134444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Rectangle 20">
            <a:extLst>
              <a:ext uri="{FF2B5EF4-FFF2-40B4-BE49-F238E27FC236}">
                <a16:creationId xmlns:a16="http://schemas.microsoft.com/office/drawing/2014/main" id="{51C93928-7845-949C-F390-F348E95657BB}"/>
              </a:ext>
            </a:extLst>
          </p:cNvPr>
          <p:cNvSpPr/>
          <p:nvPr/>
        </p:nvSpPr>
        <p:spPr>
          <a:xfrm>
            <a:off x="6141544" y="4443006"/>
            <a:ext cx="45719" cy="1770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6FDC66-5D19-8226-C15A-8A490EB16E3C}"/>
              </a:ext>
            </a:extLst>
          </p:cNvPr>
          <p:cNvSpPr txBox="1"/>
          <p:nvPr/>
        </p:nvSpPr>
        <p:spPr>
          <a:xfrm>
            <a:off x="6248224" y="4424058"/>
            <a:ext cx="1139993" cy="196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2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검토</a:t>
            </a:r>
            <a:r>
              <a:rPr lang="en-US" sz="12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의견</a:t>
            </a:r>
            <a:endParaRPr sz="1200" b="1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Rectangle 20">
            <a:extLst>
              <a:ext uri="{FF2B5EF4-FFF2-40B4-BE49-F238E27FC236}">
                <a16:creationId xmlns:a16="http://schemas.microsoft.com/office/drawing/2014/main" id="{78FBB3CD-233B-7918-52CC-F4841A8B4B61}"/>
              </a:ext>
            </a:extLst>
          </p:cNvPr>
          <p:cNvSpPr/>
          <p:nvPr/>
        </p:nvSpPr>
        <p:spPr>
          <a:xfrm>
            <a:off x="6134738" y="1876420"/>
            <a:ext cx="45719" cy="1770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ED813A-66C9-68A8-4ADB-71E42D9E100F}"/>
              </a:ext>
            </a:extLst>
          </p:cNvPr>
          <p:cNvSpPr txBox="1"/>
          <p:nvPr/>
        </p:nvSpPr>
        <p:spPr>
          <a:xfrm>
            <a:off x="6241418" y="1857472"/>
            <a:ext cx="4419600" cy="196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2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적정 분양가</a:t>
            </a:r>
            <a:endParaRPr sz="1200" b="1" dirty="0">
              <a:solidFill>
                <a:srgbClr val="0070C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AA7E2106-DE1E-A075-91B5-42244469FE48}"/>
              </a:ext>
            </a:extLst>
          </p:cNvPr>
          <p:cNvSpPr/>
          <p:nvPr/>
        </p:nvSpPr>
        <p:spPr>
          <a:xfrm>
            <a:off x="2350247" y="3490117"/>
            <a:ext cx="188796" cy="188796"/>
          </a:xfrm>
          <a:prstGeom prst="ellipse">
            <a:avLst/>
          </a:prstGeom>
          <a:solidFill>
            <a:srgbClr val="0070C0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r>
              <a:rPr lang="en-US" altLang="ko-KR" sz="10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</a:t>
            </a:r>
            <a:endParaRPr lang="ko-KR" altLang="en-US" sz="1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10C624D5-2B51-0372-49AD-D2EEAD771E8E}"/>
              </a:ext>
            </a:extLst>
          </p:cNvPr>
          <p:cNvSpPr/>
          <p:nvPr/>
        </p:nvSpPr>
        <p:spPr>
          <a:xfrm>
            <a:off x="3070743" y="3490117"/>
            <a:ext cx="188796" cy="188796"/>
          </a:xfrm>
          <a:prstGeom prst="ellipse">
            <a:avLst/>
          </a:prstGeom>
          <a:solidFill>
            <a:srgbClr val="0070C0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r>
              <a:rPr lang="en-US" altLang="ko-KR" sz="10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1C0CF2FD-BD99-D532-AF27-E14F7AE1F8F1}"/>
              </a:ext>
            </a:extLst>
          </p:cNvPr>
          <p:cNvSpPr/>
          <p:nvPr/>
        </p:nvSpPr>
        <p:spPr>
          <a:xfrm>
            <a:off x="3814987" y="3487854"/>
            <a:ext cx="188796" cy="18879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r>
              <a:rPr lang="en-US" altLang="ko-KR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</a:t>
            </a:r>
            <a:endParaRPr lang="ko-KR" altLang="en-US" sz="1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994D67D1-1B89-D2CC-FF31-DB526170D663}"/>
              </a:ext>
            </a:extLst>
          </p:cNvPr>
          <p:cNvSpPr/>
          <p:nvPr/>
        </p:nvSpPr>
        <p:spPr>
          <a:xfrm>
            <a:off x="4514919" y="3487854"/>
            <a:ext cx="188796" cy="18879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r>
              <a:rPr lang="en-US" altLang="ko-KR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689ECE44-EB26-8CFB-27D4-CF13044A5A91}"/>
              </a:ext>
            </a:extLst>
          </p:cNvPr>
          <p:cNvSpPr/>
          <p:nvPr/>
        </p:nvSpPr>
        <p:spPr>
          <a:xfrm>
            <a:off x="5256947" y="3487854"/>
            <a:ext cx="188796" cy="18879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latinLnBrk="1"/>
            <a:r>
              <a:rPr lang="en-US" altLang="ko-KR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</a:t>
            </a:r>
            <a:endParaRPr lang="ko-KR" altLang="en-US" sz="10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2595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d2bdc0e-5398-45bc-aa28-8d468ea7222c}" enabled="1" method="Privileged" siteId="{b9f2ea37-332a-432b-b744-ecfc9763abf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178</TotalTime>
  <Words>299</Words>
  <Application>Microsoft Office PowerPoint</Application>
  <PresentationFormat>와이드스크린</PresentationFormat>
  <Paragraphs>64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Noto Sans KR</vt:lpstr>
      <vt:lpstr>Noto Serif KR</vt:lpstr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박준(Park, Joon) 책임/조직개발팀 (jpark@gsenc.com)</dc:creator>
  <cp:lastModifiedBy>임성수(Lim, Seongsu) / 건축·주택마케팅팀(sslim02@gsenc.com)</cp:lastModifiedBy>
  <cp:revision>5</cp:revision>
  <dcterms:created xsi:type="dcterms:W3CDTF">2024-07-10T08:00:59Z</dcterms:created>
  <dcterms:modified xsi:type="dcterms:W3CDTF">2026-08-10T02:38:16Z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d2bdc0e-5398-45bc-aa28-8d468ea7222c_Enabled">
    <vt:lpwstr>true</vt:lpwstr>
  </property>
  <property fmtid="{D5CDD505-2E9C-101B-9397-08002B2CF9AE}" pid="3" name="MSIP_Label_ed2bdc0e-5398-45bc-aa28-8d468ea7222c_SetDate">
    <vt:lpwstr>2024-07-10T08:02:55Z</vt:lpwstr>
  </property>
  <property fmtid="{D5CDD505-2E9C-101B-9397-08002B2CF9AE}" pid="4" name="MSIP_Label_ed2bdc0e-5398-45bc-aa28-8d468ea7222c_Method">
    <vt:lpwstr>Privileged</vt:lpwstr>
  </property>
  <property fmtid="{D5CDD505-2E9C-101B-9397-08002B2CF9AE}" pid="5" name="MSIP_Label_ed2bdc0e-5398-45bc-aa28-8d468ea7222c_Name">
    <vt:lpwstr>공개</vt:lpwstr>
  </property>
  <property fmtid="{D5CDD505-2E9C-101B-9397-08002B2CF9AE}" pid="6" name="MSIP_Label_ed2bdc0e-5398-45bc-aa28-8d468ea7222c_SiteId">
    <vt:lpwstr>b9f2ea37-332a-432b-b744-ecfc9763abfd</vt:lpwstr>
  </property>
  <property fmtid="{D5CDD505-2E9C-101B-9397-08002B2CF9AE}" pid="7" name="MSIP_Label_ed2bdc0e-5398-45bc-aa28-8d468ea7222c_ActionId">
    <vt:lpwstr>6e6cfc2f-cca6-4543-92f7-d7bd7af2527a</vt:lpwstr>
  </property>
  <property fmtid="{D5CDD505-2E9C-101B-9397-08002B2CF9AE}" pid="8" name="MSIP_Label_ed2bdc0e-5398-45bc-aa28-8d468ea7222c_ContentBits">
    <vt:lpwstr>0</vt:lpwstr>
  </property>
</Properties>
</file>